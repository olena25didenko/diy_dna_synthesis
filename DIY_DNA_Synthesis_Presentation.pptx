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thesis asks a single question: as DNA-synthesis screening becomes mandatory and moves onto the synthesis device itself, and as do-it-yourself and benchtop synthesis proliferate, where does control stay robust, where does it erode, and where must policy move to keep pace through 2030. I characterise the whole governance architecture as a function of the policy regime, and I back it with original forensic results. I'll walk through four workstreams: a technology-readiness index, cost trajectories, control robustness, and a forensic attribution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US policy instruments define this moment. The OSTP Framework for Nucleic Acid Synthesis Screening took first effect in April 2025 at a 200-nucleotide window; a second stage scheduled for October 2026 would tighten that to 50 nucleotides and add a functional sequence-of-concern definition. Executive Order 14292 then paused the Framework pending revision, so that milestone's survival is genuinely uncertain. And Senate bill S. 3741 would make screening statutory. The BIOSECURE Act became law in December 2025. So screening is being strengthened deliberately — the question is whether it reaches far enough as devices proliferate.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anchor everything in two regimes. R0 is the status quo as of October 2026 — voluntary, no device mandate. R1 is the projected regime with mandatory provider and on-device screening at a 50-nucleotide window with functional detection. Crucially, R1 is a composite projection, doubly conditional on the Framework revision being issued and on S. 3741 being enacted. The analytically interesting object is not whether screening works — it's the residual DIY gap: the synthesis capability that remains outside the perimeter once commercial providers and benchtop manufacturers are covered. Everything is scored under both regimes and weighted toward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has four parts. First, a regime-conditional technology-readiness index across the synthesis chemistries, weighted toward DIY. Second, cost and accessibility trajectories to 2030. Third, a control-robustness assessment — which levers stay durable and how far a US mandate actually reaches. And fourth, the forensic contribution: a method to attribute the synthesis route from error signatures in the sequenced product. The contribution overall is to move the conversation from ranking which sequences are dangerous toward designing the control architecture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readiness index — how accessible and how governable each synthesis route actually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score seven routes by technology-readiness level, which here means how close a route is to a working, assembly-ready capability a non-expert could stand up. The analytical weight sits in the TRL 3–6 band. OpenIDS and MAS 2.0 are the genuine open-source DIY builds at TRL 5. DropSynth is DIY gene assembly at TRL 4. Electrochemical is TRL 3 with no independent build. Commercial systems sit at 9 but are reached only by purchase — they're a baseline, not the object of concern.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methodological point that keeps the assessment honest: I score capability by usable length at high fidelity, not advertised maximum. At 98% per-step coupling a 30-mer is full-length only about 55% of the time, and OpenIDS has only ever demonstrated a short poly-dT homopolymer. Gene assembly needs upwards of 90% full-length product. So the honest usable length for these DIY routes is tens of nucleotides — well short of a defined-sequence gene. Advertised numbers overstate the threat.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capital cost: OpenIDS is about twenty thousand dollars, MAS 2.0 tens of thousands, and DropSynth just a thirty-four-hundred-dollar bead pool. The enzymatic benchtop — DNA Script's SYNTAX — is around $292,000, verified against a vendor quote. The key nuance is DropSynth: its low cost buys you assembly of a commercial oligo pool, which is already screenable. Cheapness there doesn't translate into unscreened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plot the expertise required, the picture inverts the cost story. The cheap DIY routes — MAS 2.0, DropSynth, electrochemical — demand the most skill, scoring 7 to 8 out of 10 across multiple specialist domains. The easy, push-button options are the commercial ones you simply buy. So accessibility isn't really about price; it's gated by know-how.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where these costs are heading — and where the true barrier actually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model cost as conditional annual-decline scenarios with explicit TRL gating — not mechanical curve fits. OpenIDS, the only DIY route with a real anchor, projects from its nineteen-thousand-nine-hundred-dollar build to about twelve thousand by 2030 in the base case. But the load-bearing conclusion is that commercial cost-per-base has plateaued, so the DIY barrier is capital cost, not per-base cost — and even where OpenIDS undercuts a provider at volume, it yields raw short oligos, not a finished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accelerate, continue, and stall scenarios, OpenIDS stays the only genuinely low-cost DIY route. Electrochemical cost is undefined at TRL 3 — I refuse to itemise parts for a system that doesn't exist. And the enzymatic benchtop stays six-figure, tracking the Institute for Progress 2030 forecast of roughly a hundred-and-twelve to two-hundred-and-ninety-eight thousand dollars.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practitioner benchmark sharpens the whole argument. Commercial oligo pools cost about a dollar-fifty per kilobase — nearly free. Clonal, sequence-perfect DNA from the same provider is about a hundred and twenty-five. That eighty-fold markup is entirely assembly and sequence validation — which Keoni Gandall has shown can be done for about six dollars per kilobase with enough know-how. So the barrier isn't a hard cost floor; it's tacit knowledge — two years of specialisation. That reframes the residual DIY gap as expertise-gated, downstream of synthesis.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which control levers actually hold as the regime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R0, every lever is fragile — voluntary screening, and reagent or component restrictions that are trivially routed around. Under R1, mandatory provider and on-device screening plus functional detection and retention are substantially more durable — but only for regulated commercial devices. Open firmware makes on-device screening weak for DIY systems, and legacy and secondhand devices escape it entirely. So the durable tier is real, but it has holes exactly where the DIY gap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highest-confidence, worst-case-surviving finding is that supply-chain restriction is not a durable control point under either regime. The inputs are commodity or substitutable — propylene carbonate, a food additive, replaces the regulated solvent; phosphoramidites are made on demand from stable precursors. Control belongs at the device and the provider, not the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make this concrete with the phosphoramidite supply chain. As a misuse-control lever the risk is low — a dozen suppliers, no purchase controls, chemically substitutable, and a billion-dollar legitimate market that swamps any signal. There is a real concentration upstream, in bulk and GMP grade, with a growing Chinese role — but that's an economic and drug-security issue, addressed by the BIOSECURE Act, not a misuse chokepoint. The one-line takeaway: control belongs at the sequence and the device, not the reagent.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consequential result is about reach, not manufacturing. Of thirty-four benchtop manufacturers inventoried, only eight are US-headquartered and directly bound by a mandate; fourteen sit outside US and allied reach; and five of the nine firms founded since 2019 are outside reach, including the highest-throughput array class. So a US mandate directly reaches under a quarter of known makers, and the frontier is drifting away from it. International harmonisation isn't optional — it's load-bearing.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Fourth — and this is the original scientific core — when prevention leaks, can we attribute after the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Prevention is imperfect by design, so a mature architecture pairs it with post-hoc detection and attribution — Esvelt's delay, detect, defend. My contribution is the detect leg: infer the synthesis route from characteristic error signatures in the sequenced product, using reads alone. The scope is honest — this is class-level attribution, not a serial number — and following the genetic-engineering-attribution literature, exclusion is the primary value: ruling out a commercial origin redirects an investigation from subpoenaing order records toward searching for equipment.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premise is no longer just cited — I reprocessed four deposited datasets from raw reads and reproduced each method's published error signature to within about twenty percent. Column phosphoramidite is deletion-dominated with a G-to-A substitution bias; photolithographic is deletion-dominated with a G-to-T bias. The substitution direction is the fine discriminator. Deletion burden alone spans about eighty-fold across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Gimpel data I reproduced the electrochemical-versus-deposition distinction: the electrochemical pool shows roughly nineteen times the deletion rate of material deposition, plus a distinctive five-prime-ward gradient, while deposition is essentially error-free. That's exactly the kind of order-of-magnitude, class-level signature my classifier relies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 built the binding-constraint artifact: a single co-processed reference atlas — all four datasets through one pipeline, sixty-five runs. On it, cross-chemistry attribution is essentially perfect: a hundred percent balanced accuracy, permutation p around point-oh-one. Within-chemistry vendor attribution, by contrast, is hard: under leakage-safe validation the four-vendor task isn't supported and near-neighbour vendors reach only about seventy-two percent. That's an honest, rigor-improving result — it corrected an earlier number that had been inflated by replicate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a concrete, mechanistically-anchored prediction. OpenIDS uses standard column chemistry but omits the capping step. I reproduced that the G-to-A signature is capping-driven — a twelve-point-two-fold shift. So OpenIDS product should show a suppressed G-to-A signature and elevated single-base internal deletions — a distinguishable DIY-versus-commercial phenotype. It's a hypothesis, not yet a measurement, because Kim deposited no sequencing data; testing it needs collaborator OpenIDS reads, infohazard-reviewed through IBBIS. That's the single highest-value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it together: the durable levers, conditional on R1, are on-device screening, mandatory provider compliance, functional detection, international coordination, and forensic attribution as the backstop. The illusory ones are supply-chain restrictions of every kind. And the live frontier problem is function-based screening: the Paraphrase Project showed that even after coordinated patching, about three percent of AI-designed functional protein variants still escape similarity-based screening — which is exactly what the October 2026 functional-sequence-of-concern provision is meant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conclude. Screening is being strengthened for good reason, but a single point-of-sale control is insufficient. My work maps which levers hold, shows that supply-chain restriction is not one of them, quantifies how far a US mandate reaches — under a quarter of makers — and delivers a forensic backstop that is now demonstrated, not just proposed: four reproduced chemistries and a real, one-hundred-percent cross-chemistry classifier. The problem shifts from preventing DIY synthesis to governing a proliferating-device world with a layered, mandatory, regime-conditional architecture — backstopped by attribution for the devices and residual routes it cannot reach.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43D"/>
        </a:solidFill>
      </p:bgPr>
    </p:bg>
    <p:spTree>
      <p:nvGrpSpPr>
        <p:cNvPr id="1" name=""/>
        <p:cNvGrpSpPr/>
        <p:nvPr/>
      </p:nvGrpSpPr>
      <p:grpSpPr>
        <a:xfrm>
          <a:off x="0" y="0"/>
          <a:ext cx="0" cy="0"/>
          <a:chOff x="0" y="0"/>
          <a:chExt cx="0" cy="0"/>
        </a:xfrm>
      </p:grpSpPr>
      <p:sp>
        <p:nvSpPr>
          <p:cNvPr id="2" name="Shape 0"/>
          <p:cNvSpPr/>
          <p:nvPr/>
        </p:nvSpPr>
        <p:spPr>
          <a:xfrm>
            <a:off x="822960" y="2468880"/>
            <a:ext cx="548640" cy="82296"/>
          </a:xfrm>
          <a:prstGeom prst="rect">
            <a:avLst/>
          </a:prstGeom>
          <a:solidFill>
            <a:srgbClr val="2A9D8F"/>
          </a:solidFill>
          <a:ln/>
        </p:spPr>
      </p:sp>
      <p:sp>
        <p:nvSpPr>
          <p:cNvPr id="3" name="Text 1"/>
          <p:cNvSpPr/>
          <p:nvPr/>
        </p:nvSpPr>
        <p:spPr>
          <a:xfrm>
            <a:off x="822960" y="2651760"/>
            <a:ext cx="10515600" cy="18288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DNA Synthesis Screening</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Under Device Proliferation</a:t>
            </a:r>
            <a:endParaRPr lang="en-US" sz="4000" dirty="0"/>
          </a:p>
        </p:txBody>
      </p:sp>
      <p:sp>
        <p:nvSpPr>
          <p:cNvPr id="4" name="Text 2"/>
          <p:cNvSpPr/>
          <p:nvPr/>
        </p:nvSpPr>
        <p:spPr>
          <a:xfrm>
            <a:off x="822960" y="4480560"/>
            <a:ext cx="10241280" cy="914400"/>
          </a:xfrm>
          <a:prstGeom prst="rect">
            <a:avLst/>
          </a:prstGeom>
          <a:noFill/>
          <a:ln/>
        </p:spPr>
        <p:txBody>
          <a:bodyPr wrap="square" lIns="0" tIns="0" rIns="0" bIns="0" rtlCol="0" anchor="ctr"/>
          <a:lstStyle/>
          <a:p>
            <a:pPr indent="0" marL="0">
              <a:buNone/>
            </a:pPr>
            <a:r>
              <a:rPr lang="en-US" sz="1900" dirty="0">
                <a:solidFill>
                  <a:srgbClr val="BFD3D6"/>
                </a:solidFill>
                <a:latin typeface="Calibri" pitchFamily="34" charset="0"/>
                <a:ea typeface="Calibri" pitchFamily="34" charset="-122"/>
                <a:cs typeface="Calibri" pitchFamily="34" charset="-120"/>
              </a:rPr>
              <a:t>A regime-conditional analysis of governance architecture, 2026–2030</a:t>
            </a:r>
            <a:endParaRPr lang="en-US" sz="1900" dirty="0"/>
          </a:p>
        </p:txBody>
      </p:sp>
      <p:sp>
        <p:nvSpPr>
          <p:cNvPr id="5" name="Text 3"/>
          <p:cNvSpPr/>
          <p:nvPr/>
        </p:nvSpPr>
        <p:spPr>
          <a:xfrm>
            <a:off x="822960" y="5852160"/>
            <a:ext cx="10058400" cy="365760"/>
          </a:xfrm>
          <a:prstGeom prst="rect">
            <a:avLst/>
          </a:prstGeom>
          <a:noFill/>
          <a:ln/>
        </p:spPr>
        <p:txBody>
          <a:bodyPr wrap="square" lIns="0" tIns="0" rIns="0" bIns="0" rtlCol="0" anchor="ctr"/>
          <a:lstStyle/>
          <a:p>
            <a:pPr indent="0" marL="0">
              <a:buNone/>
            </a:pPr>
            <a:r>
              <a:rPr lang="en-US" sz="1300" dirty="0">
                <a:solidFill>
                  <a:srgbClr val="7FA0A6"/>
                </a:solidFill>
                <a:latin typeface="Calibri" pitchFamily="34" charset="0"/>
                <a:ea typeface="Calibri" pitchFamily="34" charset="-122"/>
                <a:cs typeface="Calibri" pitchFamily="34" charset="-120"/>
              </a:rPr>
              <a:t>Olena Didenko  ·  biosecurity fellowship  ·  ERA / IBBIS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64592" cy="164592"/>
          </a:xfrm>
          <a:prstGeom prst="rect">
            <a:avLst/>
          </a:prstGeom>
          <a:solidFill>
            <a:srgbClr val="1C7293"/>
          </a:solidFill>
          <a:ln/>
        </p:spPr>
      </p:sp>
      <p:sp>
        <p:nvSpPr>
          <p:cNvPr id="3" name="Text 1"/>
          <p:cNvSpPr/>
          <p:nvPr/>
        </p:nvSpPr>
        <p:spPr>
          <a:xfrm>
            <a:off x="777240" y="365760"/>
            <a:ext cx="10881360" cy="640080"/>
          </a:xfrm>
          <a:prstGeom prst="rect">
            <a:avLst/>
          </a:prstGeom>
          <a:noFill/>
          <a:ln/>
        </p:spPr>
        <p:txBody>
          <a:bodyPr wrap="square" lIns="0" tIns="0" rIns="0" bIns="0" rtlCol="0" anchor="ctr"/>
          <a:lstStyle/>
          <a:p>
            <a:pPr indent="0" marL="0">
              <a:buNone/>
            </a:pPr>
            <a:r>
              <a:rPr lang="en-US" sz="3000" b="1" dirty="0">
                <a:solidFill>
                  <a:srgbClr val="14243D"/>
                </a:solidFill>
                <a:latin typeface="Cambria" pitchFamily="34" charset="0"/>
                <a:ea typeface="Cambria" pitchFamily="34" charset="-122"/>
                <a:cs typeface="Cambria" pitchFamily="34" charset="-120"/>
              </a:rPr>
              <a:t>Why now</a:t>
            </a:r>
            <a:endParaRPr lang="en-US" sz="3000" dirty="0"/>
          </a:p>
        </p:txBody>
      </p:sp>
      <p:sp>
        <p:nvSpPr>
          <p:cNvPr id="4" name="Text 2"/>
          <p:cNvSpPr/>
          <p:nvPr/>
        </p:nvSpPr>
        <p:spPr>
          <a:xfrm>
            <a:off x="777240" y="1024128"/>
            <a:ext cx="10698480" cy="45720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Screening is going mandatory and on-device — exactly as DIY capability spreads.</a:t>
            </a:r>
            <a:endParaRPr lang="en-US" sz="1500" dirty="0"/>
          </a:p>
        </p:txBody>
      </p:sp>
      <p:sp>
        <p:nvSpPr>
          <p:cNvPr id="5" name="Text 3"/>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DNA synthesis screening under device proliferation</a:t>
            </a:r>
            <a:endParaRPr lang="en-US" sz="900" dirty="0"/>
          </a:p>
        </p:txBody>
      </p:sp>
      <p:sp>
        <p:nvSpPr>
          <p:cNvPr id="6" name="Text 4"/>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a:t>
            </a:r>
            <a:endParaRPr lang="en-US" sz="900" dirty="0"/>
          </a:p>
        </p:txBody>
      </p:sp>
      <p:sp>
        <p:nvSpPr>
          <p:cNvPr id="7" name="Shape 5"/>
          <p:cNvSpPr/>
          <p:nvPr/>
        </p:nvSpPr>
        <p:spPr>
          <a:xfrm>
            <a:off x="548640" y="2194560"/>
            <a:ext cx="3392424" cy="2743200"/>
          </a:xfrm>
          <a:prstGeom prst="roundRect">
            <a:avLst>
              <a:gd name="adj" fmla="val 3333"/>
            </a:avLst>
          </a:prstGeom>
          <a:solidFill>
            <a:srgbClr val="F2F5F7"/>
          </a:solidFill>
          <a:ln w="12700">
            <a:solidFill>
              <a:srgbClr val="D7DEE5"/>
            </a:solidFill>
            <a:prstDash val="solid"/>
          </a:ln>
        </p:spPr>
      </p:sp>
      <p:sp>
        <p:nvSpPr>
          <p:cNvPr id="8" name="Text 6"/>
          <p:cNvSpPr/>
          <p:nvPr/>
        </p:nvSpPr>
        <p:spPr>
          <a:xfrm>
            <a:off x="685800" y="2697480"/>
            <a:ext cx="3118104" cy="1005840"/>
          </a:xfrm>
          <a:prstGeom prst="rect">
            <a:avLst/>
          </a:prstGeom>
          <a:noFill/>
          <a:ln/>
        </p:spPr>
        <p:txBody>
          <a:bodyPr wrap="square" lIns="0" tIns="0" rIns="0" bIns="0" rtlCol="0" anchor="ctr"/>
          <a:lstStyle/>
          <a:p>
            <a:pPr algn="ctr" indent="0" marL="0">
              <a:buNone/>
            </a:pPr>
            <a:r>
              <a:rPr lang="en-US" sz="3400" b="1" dirty="0">
                <a:solidFill>
                  <a:srgbClr val="1C7293"/>
                </a:solidFill>
                <a:latin typeface="Cambria" pitchFamily="34" charset="0"/>
                <a:ea typeface="Cambria" pitchFamily="34" charset="-122"/>
                <a:cs typeface="Cambria" pitchFamily="34" charset="-120"/>
              </a:rPr>
              <a:t>200 → 50</a:t>
            </a:r>
            <a:endParaRPr lang="en-US" sz="3400" dirty="0"/>
          </a:p>
        </p:txBody>
      </p:sp>
      <p:sp>
        <p:nvSpPr>
          <p:cNvPr id="9" name="Text 7"/>
          <p:cNvSpPr/>
          <p:nvPr/>
        </p:nvSpPr>
        <p:spPr>
          <a:xfrm>
            <a:off x="777240" y="3794760"/>
            <a:ext cx="2935224" cy="914400"/>
          </a:xfrm>
          <a:prstGeom prst="rect">
            <a:avLst/>
          </a:prstGeom>
          <a:noFill/>
          <a:ln/>
        </p:spPr>
        <p:txBody>
          <a:bodyPr wrap="square" lIns="0" tIns="0" rIns="0" bIns="0" rtlCol="0" anchor="t"/>
          <a:lstStyle/>
          <a:p>
            <a:pPr algn="ctr" indent="0" marL="0">
              <a:buNone/>
            </a:pPr>
            <a:r>
              <a:rPr lang="en-US" sz="1400" dirty="0">
                <a:solidFill>
                  <a:srgbClr val="21303F"/>
                </a:solidFill>
                <a:latin typeface="Calibri" pitchFamily="34" charset="0"/>
                <a:ea typeface="Calibri" pitchFamily="34" charset="-122"/>
                <a:cs typeface="Calibri" pitchFamily="34" charset="-120"/>
              </a:rPr>
              <a:t>nt screening window tightening (Oct 2026, paused)</a:t>
            </a:r>
            <a:endParaRPr lang="en-US" sz="1400" dirty="0"/>
          </a:p>
        </p:txBody>
      </p:sp>
      <p:sp>
        <p:nvSpPr>
          <p:cNvPr id="10" name="Shape 8"/>
          <p:cNvSpPr/>
          <p:nvPr/>
        </p:nvSpPr>
        <p:spPr>
          <a:xfrm>
            <a:off x="4398264" y="2194560"/>
            <a:ext cx="3392424" cy="2743200"/>
          </a:xfrm>
          <a:prstGeom prst="roundRect">
            <a:avLst>
              <a:gd name="adj" fmla="val 3333"/>
            </a:avLst>
          </a:prstGeom>
          <a:solidFill>
            <a:srgbClr val="F2F5F7"/>
          </a:solidFill>
          <a:ln w="12700">
            <a:solidFill>
              <a:srgbClr val="D7DEE5"/>
            </a:solidFill>
            <a:prstDash val="solid"/>
          </a:ln>
        </p:spPr>
      </p:sp>
      <p:sp>
        <p:nvSpPr>
          <p:cNvPr id="11" name="Text 9"/>
          <p:cNvSpPr/>
          <p:nvPr/>
        </p:nvSpPr>
        <p:spPr>
          <a:xfrm>
            <a:off x="4535424" y="2697480"/>
            <a:ext cx="3118104" cy="1005840"/>
          </a:xfrm>
          <a:prstGeom prst="rect">
            <a:avLst/>
          </a:prstGeom>
          <a:noFill/>
          <a:ln/>
        </p:spPr>
        <p:txBody>
          <a:bodyPr wrap="square" lIns="0" tIns="0" rIns="0" bIns="0" rtlCol="0" anchor="ctr"/>
          <a:lstStyle/>
          <a:p>
            <a:pPr algn="ctr" indent="0" marL="0">
              <a:buNone/>
            </a:pPr>
            <a:r>
              <a:rPr lang="en-US" sz="4600" b="1" dirty="0">
                <a:solidFill>
                  <a:srgbClr val="1C7293"/>
                </a:solidFill>
                <a:latin typeface="Cambria" pitchFamily="34" charset="0"/>
                <a:ea typeface="Cambria" pitchFamily="34" charset="-122"/>
                <a:cs typeface="Cambria" pitchFamily="34" charset="-120"/>
              </a:rPr>
              <a:t>§851</a:t>
            </a:r>
            <a:endParaRPr lang="en-US" sz="4600" dirty="0"/>
          </a:p>
        </p:txBody>
      </p:sp>
      <p:sp>
        <p:nvSpPr>
          <p:cNvPr id="12" name="Text 10"/>
          <p:cNvSpPr/>
          <p:nvPr/>
        </p:nvSpPr>
        <p:spPr>
          <a:xfrm>
            <a:off x="4626864" y="3794760"/>
            <a:ext cx="2935224" cy="914400"/>
          </a:xfrm>
          <a:prstGeom prst="rect">
            <a:avLst/>
          </a:prstGeom>
          <a:noFill/>
          <a:ln/>
        </p:spPr>
        <p:txBody>
          <a:bodyPr wrap="square" lIns="0" tIns="0" rIns="0" bIns="0" rtlCol="0" anchor="t"/>
          <a:lstStyle/>
          <a:p>
            <a:pPr algn="ctr" indent="0" marL="0">
              <a:buNone/>
            </a:pPr>
            <a:r>
              <a:rPr lang="en-US" sz="1400" dirty="0">
                <a:solidFill>
                  <a:srgbClr val="21303F"/>
                </a:solidFill>
                <a:latin typeface="Calibri" pitchFamily="34" charset="0"/>
                <a:ea typeface="Calibri" pitchFamily="34" charset="-122"/>
                <a:cs typeface="Calibri" pitchFamily="34" charset="-120"/>
              </a:rPr>
              <a:t>BIOSECURE Act enacted, FY2026 NDAA (Dec 2025)</a:t>
            </a:r>
            <a:endParaRPr lang="en-US" sz="1400" dirty="0"/>
          </a:p>
        </p:txBody>
      </p:sp>
      <p:sp>
        <p:nvSpPr>
          <p:cNvPr id="13" name="Shape 11"/>
          <p:cNvSpPr/>
          <p:nvPr/>
        </p:nvSpPr>
        <p:spPr>
          <a:xfrm>
            <a:off x="8247888" y="2194560"/>
            <a:ext cx="3392424" cy="2743200"/>
          </a:xfrm>
          <a:prstGeom prst="roundRect">
            <a:avLst>
              <a:gd name="adj" fmla="val 3333"/>
            </a:avLst>
          </a:prstGeom>
          <a:solidFill>
            <a:srgbClr val="F2F5F7"/>
          </a:solidFill>
          <a:ln w="12700">
            <a:solidFill>
              <a:srgbClr val="D7DEE5"/>
            </a:solidFill>
            <a:prstDash val="solid"/>
          </a:ln>
        </p:spPr>
      </p:sp>
      <p:sp>
        <p:nvSpPr>
          <p:cNvPr id="14" name="Text 12"/>
          <p:cNvSpPr/>
          <p:nvPr/>
        </p:nvSpPr>
        <p:spPr>
          <a:xfrm>
            <a:off x="8385048" y="2697480"/>
            <a:ext cx="3118104" cy="1005840"/>
          </a:xfrm>
          <a:prstGeom prst="rect">
            <a:avLst/>
          </a:prstGeom>
          <a:noFill/>
          <a:ln/>
        </p:spPr>
        <p:txBody>
          <a:bodyPr wrap="square" lIns="0" tIns="0" rIns="0" bIns="0" rtlCol="0" anchor="ctr"/>
          <a:lstStyle/>
          <a:p>
            <a:pPr algn="ctr" indent="0" marL="0">
              <a:buNone/>
            </a:pPr>
            <a:r>
              <a:rPr lang="en-US" sz="4600" b="1" dirty="0">
                <a:solidFill>
                  <a:srgbClr val="1C7293"/>
                </a:solidFill>
                <a:latin typeface="Cambria" pitchFamily="34" charset="0"/>
                <a:ea typeface="Cambria" pitchFamily="34" charset="-122"/>
                <a:cs typeface="Cambria" pitchFamily="34" charset="-120"/>
              </a:rPr>
              <a:t>R0 → R1</a:t>
            </a:r>
            <a:endParaRPr lang="en-US" sz="4600" dirty="0"/>
          </a:p>
        </p:txBody>
      </p:sp>
      <p:sp>
        <p:nvSpPr>
          <p:cNvPr id="15" name="Text 13"/>
          <p:cNvSpPr/>
          <p:nvPr/>
        </p:nvSpPr>
        <p:spPr>
          <a:xfrm>
            <a:off x="8476488" y="3794760"/>
            <a:ext cx="2935224" cy="914400"/>
          </a:xfrm>
          <a:prstGeom prst="rect">
            <a:avLst/>
          </a:prstGeom>
          <a:noFill/>
          <a:ln/>
        </p:spPr>
        <p:txBody>
          <a:bodyPr wrap="square" lIns="0" tIns="0" rIns="0" bIns="0" rtlCol="0" anchor="t"/>
          <a:lstStyle/>
          <a:p>
            <a:pPr algn="ctr" indent="0" marL="0">
              <a:buNone/>
            </a:pPr>
            <a:r>
              <a:rPr lang="en-US" sz="1400" dirty="0">
                <a:solidFill>
                  <a:srgbClr val="21303F"/>
                </a:solidFill>
                <a:latin typeface="Calibri" pitchFamily="34" charset="0"/>
                <a:ea typeface="Calibri" pitchFamily="34" charset="-122"/>
                <a:cs typeface="Calibri" pitchFamily="34" charset="-120"/>
              </a:rPr>
              <a:t>status quo to mandatory + on-device regime</a:t>
            </a:r>
            <a:endParaRPr lang="en-US" sz="1400" dirty="0"/>
          </a:p>
        </p:txBody>
      </p:sp>
      <p:sp>
        <p:nvSpPr>
          <p:cNvPr id="16" name="Text 14"/>
          <p:cNvSpPr/>
          <p:nvPr/>
        </p:nvSpPr>
        <p:spPr>
          <a:xfrm>
            <a:off x="548640" y="5394960"/>
            <a:ext cx="11064240" cy="548640"/>
          </a:xfrm>
          <a:prstGeom prst="rect">
            <a:avLst/>
          </a:prstGeom>
          <a:noFill/>
          <a:ln/>
        </p:spPr>
        <p:txBody>
          <a:bodyPr wrap="square" lIns="0" tIns="0" rIns="0" bIns="0"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Three US instruments define the moment: the OSTP Framework, Executive Order 14292, and Senate bill S. 3741.</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64592" cy="164592"/>
          </a:xfrm>
          <a:prstGeom prst="rect">
            <a:avLst/>
          </a:prstGeom>
          <a:solidFill>
            <a:srgbClr val="1C7293"/>
          </a:solidFill>
          <a:ln/>
        </p:spPr>
      </p:sp>
      <p:sp>
        <p:nvSpPr>
          <p:cNvPr id="3" name="Text 1"/>
          <p:cNvSpPr/>
          <p:nvPr/>
        </p:nvSpPr>
        <p:spPr>
          <a:xfrm>
            <a:off x="777240" y="365760"/>
            <a:ext cx="10881360" cy="640080"/>
          </a:xfrm>
          <a:prstGeom prst="rect">
            <a:avLst/>
          </a:prstGeom>
          <a:noFill/>
          <a:ln/>
        </p:spPr>
        <p:txBody>
          <a:bodyPr wrap="square" lIns="0" tIns="0" rIns="0" bIns="0" rtlCol="0" anchor="ctr"/>
          <a:lstStyle/>
          <a:p>
            <a:pPr indent="0" marL="0">
              <a:buNone/>
            </a:pPr>
            <a:r>
              <a:rPr lang="en-US" sz="3000" b="1" dirty="0">
                <a:solidFill>
                  <a:srgbClr val="14243D"/>
                </a:solidFill>
                <a:latin typeface="Cambria" pitchFamily="34" charset="0"/>
                <a:ea typeface="Cambria" pitchFamily="34" charset="-122"/>
                <a:cs typeface="Cambria" pitchFamily="34" charset="-120"/>
              </a:rPr>
              <a:t>Two regimes, one question</a:t>
            </a:r>
            <a:endParaRPr lang="en-US" sz="3000" dirty="0"/>
          </a:p>
        </p:txBody>
      </p:sp>
      <p:sp>
        <p:nvSpPr>
          <p:cNvPr id="4" name="Text 2"/>
          <p:cNvSpPr/>
          <p:nvPr/>
        </p:nvSpPr>
        <p:spPr>
          <a:xfrm>
            <a:off x="777240" y="1024128"/>
            <a:ext cx="10698480" cy="45720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The interesting object isn't whether screening works — it's what remains outside the perimeter.</a:t>
            </a:r>
            <a:endParaRPr lang="en-US" sz="1500" dirty="0"/>
          </a:p>
        </p:txBody>
      </p:sp>
      <p:sp>
        <p:nvSpPr>
          <p:cNvPr id="5" name="Text 3"/>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DNA synthesis screening under device proliferation</a:t>
            </a:r>
            <a:endParaRPr lang="en-US" sz="900" dirty="0"/>
          </a:p>
        </p:txBody>
      </p:sp>
      <p:sp>
        <p:nvSpPr>
          <p:cNvPr id="6" name="Text 4"/>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7" name="Shape 5"/>
          <p:cNvSpPr/>
          <p:nvPr/>
        </p:nvSpPr>
        <p:spPr>
          <a:xfrm>
            <a:off x="548640" y="1828800"/>
            <a:ext cx="5394960" cy="4114800"/>
          </a:xfrm>
          <a:prstGeom prst="roundRect">
            <a:avLst>
              <a:gd name="adj" fmla="val 2222"/>
            </a:avLst>
          </a:prstGeom>
          <a:solidFill>
            <a:srgbClr val="F2F5F7"/>
          </a:solidFill>
          <a:ln w="12700">
            <a:solidFill>
              <a:srgbClr val="D7DEE5"/>
            </a:solidFill>
            <a:prstDash val="solid"/>
          </a:ln>
        </p:spPr>
      </p:sp>
      <p:sp>
        <p:nvSpPr>
          <p:cNvPr id="8" name="Text 6"/>
          <p:cNvSpPr/>
          <p:nvPr/>
        </p:nvSpPr>
        <p:spPr>
          <a:xfrm>
            <a:off x="868680" y="2057400"/>
            <a:ext cx="4754880" cy="457200"/>
          </a:xfrm>
          <a:prstGeom prst="rect">
            <a:avLst/>
          </a:prstGeom>
          <a:noFill/>
          <a:ln/>
        </p:spPr>
        <p:txBody>
          <a:bodyPr wrap="square" lIns="0" tIns="0" rIns="0" bIns="0" rtlCol="0" anchor="ctr"/>
          <a:lstStyle/>
          <a:p>
            <a:pPr indent="0" marL="0">
              <a:buNone/>
            </a:pPr>
            <a:r>
              <a:rPr lang="en-US" sz="1900" b="1" dirty="0">
                <a:solidFill>
                  <a:srgbClr val="1C7293"/>
                </a:solidFill>
                <a:latin typeface="Cambria" pitchFamily="34" charset="0"/>
                <a:ea typeface="Cambria" pitchFamily="34" charset="-122"/>
                <a:cs typeface="Cambria" pitchFamily="34" charset="-120"/>
              </a:rPr>
              <a:t>R0 — status quo (Oct 2026)</a:t>
            </a:r>
            <a:endParaRPr lang="en-US" sz="1900" dirty="0"/>
          </a:p>
        </p:txBody>
      </p:sp>
      <p:sp>
        <p:nvSpPr>
          <p:cNvPr id="9" name="Text 7"/>
          <p:cNvSpPr/>
          <p:nvPr/>
        </p:nvSpPr>
        <p:spPr>
          <a:xfrm>
            <a:off x="868680" y="2697480"/>
            <a:ext cx="4800600" cy="3017520"/>
          </a:xfrm>
          <a:prstGeom prst="rect">
            <a:avLst/>
          </a:prstGeom>
          <a:noFill/>
          <a:ln/>
        </p:spPr>
        <p:txBody>
          <a:bodyPr wrap="square" rtlCol="0" anchor="t"/>
          <a:lstStyle/>
          <a:p>
            <a:pPr marL="342900" indent="-342900">
              <a:spcAft>
                <a:spcPts val="900"/>
              </a:spcAft>
              <a:buSzPct val="100000"/>
              <a:buChar char="•"/>
            </a:pPr>
            <a:r>
              <a:rPr lang="en-US" sz="1400" dirty="0">
                <a:solidFill>
                  <a:srgbClr val="21303F"/>
                </a:solidFill>
                <a:latin typeface="Calibri" pitchFamily="34" charset="0"/>
                <a:ea typeface="Calibri" pitchFamily="34" charset="-122"/>
                <a:cs typeface="Calibri" pitchFamily="34" charset="-120"/>
              </a:rPr>
              <a:t>Framework revision pending</a:t>
            </a:r>
            <a:endParaRPr lang="en-US" sz="1400" dirty="0"/>
          </a:p>
          <a:p>
            <a:pPr marL="342900" indent="-342900">
              <a:spcAft>
                <a:spcPts val="900"/>
              </a:spcAft>
              <a:buSzPct val="100000"/>
              <a:buChar char="•"/>
            </a:pPr>
            <a:r>
              <a:rPr lang="en-US" sz="1400" dirty="0">
                <a:solidFill>
                  <a:srgbClr val="21303F"/>
                </a:solidFill>
                <a:latin typeface="Calibri" pitchFamily="34" charset="0"/>
                <a:ea typeface="Calibri" pitchFamily="34" charset="-122"/>
                <a:cs typeface="Calibri" pitchFamily="34" charset="-120"/>
              </a:rPr>
              <a:t>IGSC protocol voluntary</a:t>
            </a:r>
            <a:endParaRPr lang="en-US" sz="1400" dirty="0"/>
          </a:p>
          <a:p>
            <a:pPr marL="342900" indent="-342900">
              <a:spcAft>
                <a:spcPts val="900"/>
              </a:spcAft>
              <a:buSzPct val="100000"/>
              <a:buChar char="•"/>
            </a:pPr>
            <a:r>
              <a:rPr lang="en-US" sz="1400" dirty="0">
                <a:solidFill>
                  <a:srgbClr val="21303F"/>
                </a:solidFill>
                <a:latin typeface="Calibri" pitchFamily="34" charset="0"/>
                <a:ea typeface="Calibri" pitchFamily="34" charset="-122"/>
                <a:cs typeface="Calibri" pitchFamily="34" charset="-120"/>
              </a:rPr>
              <a:t>No on-device mandate</a:t>
            </a:r>
            <a:endParaRPr lang="en-US" sz="1400" dirty="0"/>
          </a:p>
          <a:p>
            <a:pPr marL="342900" indent="-342900">
              <a:spcAft>
                <a:spcPts val="900"/>
              </a:spcAft>
              <a:buSzPct val="100000"/>
              <a:buChar char="•"/>
            </a:pPr>
            <a:r>
              <a:rPr lang="en-US" sz="1400" dirty="0">
                <a:solidFill>
                  <a:srgbClr val="21303F"/>
                </a:solidFill>
                <a:latin typeface="Calibri" pitchFamily="34" charset="0"/>
                <a:ea typeface="Calibri" pitchFamily="34" charset="-122"/>
                <a:cs typeface="Calibri" pitchFamily="34" charset="-120"/>
              </a:rPr>
              <a:t>Reagents unmonitored</a:t>
            </a:r>
            <a:endParaRPr lang="en-US" sz="1400" dirty="0"/>
          </a:p>
        </p:txBody>
      </p:sp>
      <p:sp>
        <p:nvSpPr>
          <p:cNvPr id="10" name="Shape 8"/>
          <p:cNvSpPr/>
          <p:nvPr/>
        </p:nvSpPr>
        <p:spPr>
          <a:xfrm>
            <a:off x="6245352" y="1828800"/>
            <a:ext cx="5394960" cy="4114800"/>
          </a:xfrm>
          <a:prstGeom prst="roundRect">
            <a:avLst>
              <a:gd name="adj" fmla="val 2222"/>
            </a:avLst>
          </a:prstGeom>
          <a:solidFill>
            <a:srgbClr val="F2F5F7"/>
          </a:solidFill>
          <a:ln w="12700">
            <a:solidFill>
              <a:srgbClr val="D7DEE5"/>
            </a:solidFill>
            <a:prstDash val="solid"/>
          </a:ln>
        </p:spPr>
      </p:sp>
      <p:sp>
        <p:nvSpPr>
          <p:cNvPr id="11" name="Text 9"/>
          <p:cNvSpPr/>
          <p:nvPr/>
        </p:nvSpPr>
        <p:spPr>
          <a:xfrm>
            <a:off x="6565392" y="2057400"/>
            <a:ext cx="4754880" cy="457200"/>
          </a:xfrm>
          <a:prstGeom prst="rect">
            <a:avLst/>
          </a:prstGeom>
          <a:noFill/>
          <a:ln/>
        </p:spPr>
        <p:txBody>
          <a:bodyPr wrap="square" lIns="0" tIns="0" rIns="0" bIns="0" rtlCol="0" anchor="ctr"/>
          <a:lstStyle/>
          <a:p>
            <a:pPr indent="0" marL="0">
              <a:buNone/>
            </a:pPr>
            <a:r>
              <a:rPr lang="en-US" sz="1900" b="1" dirty="0">
                <a:solidFill>
                  <a:srgbClr val="2A9D8F"/>
                </a:solidFill>
                <a:latin typeface="Cambria" pitchFamily="34" charset="0"/>
                <a:ea typeface="Cambria" pitchFamily="34" charset="-122"/>
                <a:cs typeface="Cambria" pitchFamily="34" charset="-120"/>
              </a:rPr>
              <a:t>R1 — projected (late 2026+)</a:t>
            </a:r>
            <a:endParaRPr lang="en-US" sz="1900" dirty="0"/>
          </a:p>
        </p:txBody>
      </p:sp>
      <p:sp>
        <p:nvSpPr>
          <p:cNvPr id="12" name="Text 10"/>
          <p:cNvSpPr/>
          <p:nvPr/>
        </p:nvSpPr>
        <p:spPr>
          <a:xfrm>
            <a:off x="6565392" y="2697480"/>
            <a:ext cx="4800600" cy="3017520"/>
          </a:xfrm>
          <a:prstGeom prst="rect">
            <a:avLst/>
          </a:prstGeom>
          <a:noFill/>
          <a:ln/>
        </p:spPr>
        <p:txBody>
          <a:bodyPr wrap="square" rtlCol="0" anchor="t"/>
          <a:lstStyle/>
          <a:p>
            <a:pPr marL="342900" indent="-342900">
              <a:spcAft>
                <a:spcPts val="900"/>
              </a:spcAft>
              <a:buSzPct val="100000"/>
              <a:buChar char="•"/>
            </a:pPr>
            <a:r>
              <a:rPr lang="en-US" sz="1400" dirty="0">
                <a:solidFill>
                  <a:srgbClr val="21303F"/>
                </a:solidFill>
                <a:latin typeface="Calibri" pitchFamily="34" charset="0"/>
                <a:ea typeface="Calibri" pitchFamily="34" charset="-122"/>
                <a:cs typeface="Calibri" pitchFamily="34" charset="-120"/>
              </a:rPr>
              <a:t>Mandatory provider screening</a:t>
            </a:r>
            <a:endParaRPr lang="en-US" sz="1400" dirty="0"/>
          </a:p>
          <a:p>
            <a:pPr marL="342900" indent="-342900">
              <a:spcAft>
                <a:spcPts val="900"/>
              </a:spcAft>
              <a:buSzPct val="100000"/>
              <a:buChar char="•"/>
            </a:pPr>
            <a:r>
              <a:rPr lang="en-US" sz="1400" dirty="0">
                <a:solidFill>
                  <a:srgbClr val="21303F"/>
                </a:solidFill>
                <a:latin typeface="Calibri" pitchFamily="34" charset="0"/>
                <a:ea typeface="Calibri" pitchFamily="34" charset="-122"/>
                <a:cs typeface="Calibri" pitchFamily="34" charset="-120"/>
              </a:rPr>
              <a:t>On-device benchtop screening</a:t>
            </a:r>
            <a:endParaRPr lang="en-US" sz="1400" dirty="0"/>
          </a:p>
          <a:p>
            <a:pPr marL="342900" indent="-342900">
              <a:spcAft>
                <a:spcPts val="900"/>
              </a:spcAft>
              <a:buSzPct val="100000"/>
              <a:buChar char="•"/>
            </a:pPr>
            <a:r>
              <a:rPr lang="en-US" sz="1400" dirty="0">
                <a:solidFill>
                  <a:srgbClr val="21303F"/>
                </a:solidFill>
                <a:latin typeface="Calibri" pitchFamily="34" charset="0"/>
                <a:ea typeface="Calibri" pitchFamily="34" charset="-122"/>
                <a:cs typeface="Calibri" pitchFamily="34" charset="-120"/>
              </a:rPr>
              <a:t>50-nt window, functional SOC</a:t>
            </a:r>
            <a:endParaRPr lang="en-US" sz="1400" dirty="0"/>
          </a:p>
          <a:p>
            <a:pPr marL="342900" indent="-342900">
              <a:spcAft>
                <a:spcPts val="900"/>
              </a:spcAft>
              <a:buSzPct val="100000"/>
              <a:buChar char="•"/>
            </a:pPr>
            <a:r>
              <a:rPr lang="en-US" sz="1400" dirty="0">
                <a:solidFill>
                  <a:srgbClr val="21303F"/>
                </a:solidFill>
                <a:latin typeface="Calibri" pitchFamily="34" charset="0"/>
                <a:ea typeface="Calibri" pitchFamily="34" charset="-122"/>
                <a:cs typeface="Calibri" pitchFamily="34" charset="-120"/>
              </a:rPr>
              <a:t>Doubly conditional on enactment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64592" cy="164592"/>
          </a:xfrm>
          <a:prstGeom prst="rect">
            <a:avLst/>
          </a:prstGeom>
          <a:solidFill>
            <a:srgbClr val="1C7293"/>
          </a:solidFill>
          <a:ln/>
        </p:spPr>
      </p:sp>
      <p:sp>
        <p:nvSpPr>
          <p:cNvPr id="3" name="Text 1"/>
          <p:cNvSpPr/>
          <p:nvPr/>
        </p:nvSpPr>
        <p:spPr>
          <a:xfrm>
            <a:off x="777240" y="365760"/>
            <a:ext cx="10881360" cy="640080"/>
          </a:xfrm>
          <a:prstGeom prst="rect">
            <a:avLst/>
          </a:prstGeom>
          <a:noFill/>
          <a:ln/>
        </p:spPr>
        <p:txBody>
          <a:bodyPr wrap="square" lIns="0" tIns="0" rIns="0" bIns="0" rtlCol="0" anchor="ctr"/>
          <a:lstStyle/>
          <a:p>
            <a:pPr indent="0" marL="0">
              <a:buNone/>
            </a:pPr>
            <a:r>
              <a:rPr lang="en-US" sz="3000" b="1" dirty="0">
                <a:solidFill>
                  <a:srgbClr val="14243D"/>
                </a:solidFill>
                <a:latin typeface="Cambria" pitchFamily="34" charset="0"/>
                <a:ea typeface="Cambria" pitchFamily="34" charset="-122"/>
                <a:cs typeface="Cambria" pitchFamily="34" charset="-120"/>
              </a:rPr>
              <a:t>Four workstreams</a:t>
            </a:r>
            <a:endParaRPr lang="en-US" sz="3000" dirty="0"/>
          </a:p>
        </p:txBody>
      </p:sp>
      <p:sp>
        <p:nvSpPr>
          <p:cNvPr id="4" name="Text 2"/>
          <p:cNvSpPr/>
          <p:nvPr/>
        </p:nvSpPr>
        <p:spPr>
          <a:xfrm>
            <a:off x="777240" y="1024128"/>
            <a:ext cx="10698480" cy="45720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One thread: move from threat-ranking to governance-architecture design.</a:t>
            </a:r>
            <a:endParaRPr lang="en-US" sz="1500" dirty="0"/>
          </a:p>
        </p:txBody>
      </p:sp>
      <p:sp>
        <p:nvSpPr>
          <p:cNvPr id="5" name="Text 3"/>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DNA synthesis screening under device proliferation</a:t>
            </a:r>
            <a:endParaRPr lang="en-US" sz="900" dirty="0"/>
          </a:p>
        </p:txBody>
      </p:sp>
      <p:sp>
        <p:nvSpPr>
          <p:cNvPr id="6" name="Text 4"/>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548640" y="1828800"/>
            <a:ext cx="5394960" cy="1965960"/>
          </a:xfrm>
          <a:prstGeom prst="roundRect">
            <a:avLst>
              <a:gd name="adj" fmla="val 3721"/>
            </a:avLst>
          </a:prstGeom>
          <a:solidFill>
            <a:srgbClr val="F2F5F7"/>
          </a:solidFill>
          <a:ln w="12700">
            <a:solidFill>
              <a:srgbClr val="D7DEE5"/>
            </a:solidFill>
            <a:prstDash val="solid"/>
          </a:ln>
        </p:spPr>
      </p:sp>
      <p:sp>
        <p:nvSpPr>
          <p:cNvPr id="8" name="Text 6"/>
          <p:cNvSpPr/>
          <p:nvPr/>
        </p:nvSpPr>
        <p:spPr>
          <a:xfrm>
            <a:off x="868680" y="2029968"/>
            <a:ext cx="4754880" cy="457200"/>
          </a:xfrm>
          <a:prstGeom prst="rect">
            <a:avLst/>
          </a:prstGeom>
          <a:noFill/>
          <a:ln/>
        </p:spPr>
        <p:txBody>
          <a:bodyPr wrap="square" lIns="0" tIns="0" rIns="0" bIns="0" rtlCol="0" anchor="ctr"/>
          <a:lstStyle/>
          <a:p>
            <a:pPr indent="0" marL="0">
              <a:buNone/>
            </a:pPr>
            <a:r>
              <a:rPr lang="en-US" sz="1700" b="1" dirty="0">
                <a:solidFill>
                  <a:srgbClr val="14243D"/>
                </a:solidFill>
                <a:latin typeface="Cambria" pitchFamily="34" charset="0"/>
                <a:ea typeface="Cambria" pitchFamily="34" charset="-122"/>
                <a:cs typeface="Cambria" pitchFamily="34" charset="-120"/>
              </a:rPr>
              <a:t>1 · Readiness index</a:t>
            </a:r>
            <a:endParaRPr lang="en-US" sz="1700" dirty="0"/>
          </a:p>
        </p:txBody>
      </p:sp>
      <p:sp>
        <p:nvSpPr>
          <p:cNvPr id="9" name="Text 7"/>
          <p:cNvSpPr/>
          <p:nvPr/>
        </p:nvSpPr>
        <p:spPr>
          <a:xfrm>
            <a:off x="868680" y="2606040"/>
            <a:ext cx="4846320" cy="1051560"/>
          </a:xfrm>
          <a:prstGeom prst="rect">
            <a:avLst/>
          </a:prstGeom>
          <a:noFill/>
          <a:ln/>
        </p:spPr>
        <p:txBody>
          <a:bodyPr wrap="square" lIns="0" tIns="0" rIns="0" bIns="0" rtlCol="0" anchor="t"/>
          <a:lstStyle/>
          <a:p>
            <a:pPr indent="0" marL="0">
              <a:buNone/>
            </a:pPr>
            <a:r>
              <a:rPr lang="en-US" sz="1350" dirty="0">
                <a:solidFill>
                  <a:srgbClr val="21303F"/>
                </a:solidFill>
                <a:latin typeface="Calibri" pitchFamily="34" charset="0"/>
                <a:ea typeface="Calibri" pitchFamily="34" charset="-122"/>
                <a:cs typeface="Calibri" pitchFamily="34" charset="-120"/>
              </a:rPr>
              <a:t>Seven synthesis routes scored across nine dimensions, weighted to DIY; detectability paired by regime.</a:t>
            </a:r>
            <a:endParaRPr lang="en-US" sz="1350" dirty="0"/>
          </a:p>
        </p:txBody>
      </p:sp>
      <p:sp>
        <p:nvSpPr>
          <p:cNvPr id="10" name="Shape 8"/>
          <p:cNvSpPr/>
          <p:nvPr/>
        </p:nvSpPr>
        <p:spPr>
          <a:xfrm>
            <a:off x="6245352" y="1828800"/>
            <a:ext cx="5394960" cy="1965960"/>
          </a:xfrm>
          <a:prstGeom prst="roundRect">
            <a:avLst>
              <a:gd name="adj" fmla="val 3721"/>
            </a:avLst>
          </a:prstGeom>
          <a:solidFill>
            <a:srgbClr val="F2F5F7"/>
          </a:solidFill>
          <a:ln w="12700">
            <a:solidFill>
              <a:srgbClr val="D7DEE5"/>
            </a:solidFill>
            <a:prstDash val="solid"/>
          </a:ln>
        </p:spPr>
      </p:sp>
      <p:sp>
        <p:nvSpPr>
          <p:cNvPr id="11" name="Text 9"/>
          <p:cNvSpPr/>
          <p:nvPr/>
        </p:nvSpPr>
        <p:spPr>
          <a:xfrm>
            <a:off x="6565392" y="2029968"/>
            <a:ext cx="4754880" cy="457200"/>
          </a:xfrm>
          <a:prstGeom prst="rect">
            <a:avLst/>
          </a:prstGeom>
          <a:noFill/>
          <a:ln/>
        </p:spPr>
        <p:txBody>
          <a:bodyPr wrap="square" lIns="0" tIns="0" rIns="0" bIns="0" rtlCol="0" anchor="ctr"/>
          <a:lstStyle/>
          <a:p>
            <a:pPr indent="0" marL="0">
              <a:buNone/>
            </a:pPr>
            <a:r>
              <a:rPr lang="en-US" sz="1700" b="1" dirty="0">
                <a:solidFill>
                  <a:srgbClr val="14243D"/>
                </a:solidFill>
                <a:latin typeface="Cambria" pitchFamily="34" charset="0"/>
                <a:ea typeface="Cambria" pitchFamily="34" charset="-122"/>
                <a:cs typeface="Cambria" pitchFamily="34" charset="-120"/>
              </a:rPr>
              <a:t>2 · Cost &amp; accessibility</a:t>
            </a:r>
            <a:endParaRPr lang="en-US" sz="1700" dirty="0"/>
          </a:p>
        </p:txBody>
      </p:sp>
      <p:sp>
        <p:nvSpPr>
          <p:cNvPr id="12" name="Text 10"/>
          <p:cNvSpPr/>
          <p:nvPr/>
        </p:nvSpPr>
        <p:spPr>
          <a:xfrm>
            <a:off x="6565392" y="2606040"/>
            <a:ext cx="4846320" cy="1051560"/>
          </a:xfrm>
          <a:prstGeom prst="rect">
            <a:avLst/>
          </a:prstGeom>
          <a:noFill/>
          <a:ln/>
        </p:spPr>
        <p:txBody>
          <a:bodyPr wrap="square" lIns="0" tIns="0" rIns="0" bIns="0" rtlCol="0" anchor="t"/>
          <a:lstStyle/>
          <a:p>
            <a:pPr indent="0" marL="0">
              <a:buNone/>
            </a:pPr>
            <a:r>
              <a:rPr lang="en-US" sz="1350" dirty="0">
                <a:solidFill>
                  <a:srgbClr val="21303F"/>
                </a:solidFill>
                <a:latin typeface="Calibri" pitchFamily="34" charset="0"/>
                <a:ea typeface="Calibri" pitchFamily="34" charset="-122"/>
                <a:cs typeface="Calibri" pitchFamily="34" charset="-120"/>
              </a:rPr>
              <a:t>Conditional, TRL-gated cost trajectories to 2030 — capital is the barrier, not per-base.</a:t>
            </a:r>
            <a:endParaRPr lang="en-US" sz="1350" dirty="0"/>
          </a:p>
        </p:txBody>
      </p:sp>
      <p:sp>
        <p:nvSpPr>
          <p:cNvPr id="13" name="Shape 11"/>
          <p:cNvSpPr/>
          <p:nvPr/>
        </p:nvSpPr>
        <p:spPr>
          <a:xfrm>
            <a:off x="548640" y="4023360"/>
            <a:ext cx="5394960" cy="1965960"/>
          </a:xfrm>
          <a:prstGeom prst="roundRect">
            <a:avLst>
              <a:gd name="adj" fmla="val 3721"/>
            </a:avLst>
          </a:prstGeom>
          <a:solidFill>
            <a:srgbClr val="F2F5F7"/>
          </a:solidFill>
          <a:ln w="12700">
            <a:solidFill>
              <a:srgbClr val="D7DEE5"/>
            </a:solidFill>
            <a:prstDash val="solid"/>
          </a:ln>
        </p:spPr>
      </p:sp>
      <p:sp>
        <p:nvSpPr>
          <p:cNvPr id="14" name="Text 12"/>
          <p:cNvSpPr/>
          <p:nvPr/>
        </p:nvSpPr>
        <p:spPr>
          <a:xfrm>
            <a:off x="868680" y="4224528"/>
            <a:ext cx="4754880" cy="457200"/>
          </a:xfrm>
          <a:prstGeom prst="rect">
            <a:avLst/>
          </a:prstGeom>
          <a:noFill/>
          <a:ln/>
        </p:spPr>
        <p:txBody>
          <a:bodyPr wrap="square" lIns="0" tIns="0" rIns="0" bIns="0" rtlCol="0" anchor="ctr"/>
          <a:lstStyle/>
          <a:p>
            <a:pPr indent="0" marL="0">
              <a:buNone/>
            </a:pPr>
            <a:r>
              <a:rPr lang="en-US" sz="1700" b="1" dirty="0">
                <a:solidFill>
                  <a:srgbClr val="14243D"/>
                </a:solidFill>
                <a:latin typeface="Cambria" pitchFamily="34" charset="0"/>
                <a:ea typeface="Cambria" pitchFamily="34" charset="-122"/>
                <a:cs typeface="Cambria" pitchFamily="34" charset="-120"/>
              </a:rPr>
              <a:t>3 · Control robustness</a:t>
            </a:r>
            <a:endParaRPr lang="en-US" sz="1700" dirty="0"/>
          </a:p>
        </p:txBody>
      </p:sp>
      <p:sp>
        <p:nvSpPr>
          <p:cNvPr id="15" name="Text 13"/>
          <p:cNvSpPr/>
          <p:nvPr/>
        </p:nvSpPr>
        <p:spPr>
          <a:xfrm>
            <a:off x="868680" y="4800600"/>
            <a:ext cx="4846320" cy="1051560"/>
          </a:xfrm>
          <a:prstGeom prst="rect">
            <a:avLst/>
          </a:prstGeom>
          <a:noFill/>
          <a:ln/>
        </p:spPr>
        <p:txBody>
          <a:bodyPr wrap="square" lIns="0" tIns="0" rIns="0" bIns="0" rtlCol="0" anchor="t"/>
          <a:lstStyle/>
          <a:p>
            <a:pPr indent="0" marL="0">
              <a:buNone/>
            </a:pPr>
            <a:r>
              <a:rPr lang="en-US" sz="1350" dirty="0">
                <a:solidFill>
                  <a:srgbClr val="21303F"/>
                </a:solidFill>
                <a:latin typeface="Calibri" pitchFamily="34" charset="0"/>
                <a:ea typeface="Calibri" pitchFamily="34" charset="-122"/>
                <a:cs typeface="Calibri" pitchFamily="34" charset="-120"/>
              </a:rPr>
              <a:t>Which levers hold under R0 vs R1; jurisdictional reach and the reagent question.</a:t>
            </a:r>
            <a:endParaRPr lang="en-US" sz="1350" dirty="0"/>
          </a:p>
        </p:txBody>
      </p:sp>
      <p:sp>
        <p:nvSpPr>
          <p:cNvPr id="16" name="Shape 14"/>
          <p:cNvSpPr/>
          <p:nvPr/>
        </p:nvSpPr>
        <p:spPr>
          <a:xfrm>
            <a:off x="6245352" y="4023360"/>
            <a:ext cx="5394960" cy="1965960"/>
          </a:xfrm>
          <a:prstGeom prst="roundRect">
            <a:avLst>
              <a:gd name="adj" fmla="val 3721"/>
            </a:avLst>
          </a:prstGeom>
          <a:solidFill>
            <a:srgbClr val="F2F5F7"/>
          </a:solidFill>
          <a:ln w="12700">
            <a:solidFill>
              <a:srgbClr val="D7DEE5"/>
            </a:solidFill>
            <a:prstDash val="solid"/>
          </a:ln>
        </p:spPr>
      </p:sp>
      <p:sp>
        <p:nvSpPr>
          <p:cNvPr id="17" name="Text 15"/>
          <p:cNvSpPr/>
          <p:nvPr/>
        </p:nvSpPr>
        <p:spPr>
          <a:xfrm>
            <a:off x="6565392" y="4224528"/>
            <a:ext cx="4754880" cy="457200"/>
          </a:xfrm>
          <a:prstGeom prst="rect">
            <a:avLst/>
          </a:prstGeom>
          <a:noFill/>
          <a:ln/>
        </p:spPr>
        <p:txBody>
          <a:bodyPr wrap="square" lIns="0" tIns="0" rIns="0" bIns="0" rtlCol="0" anchor="ctr"/>
          <a:lstStyle/>
          <a:p>
            <a:pPr indent="0" marL="0">
              <a:buNone/>
            </a:pPr>
            <a:r>
              <a:rPr lang="en-US" sz="1700" b="1" dirty="0">
                <a:solidFill>
                  <a:srgbClr val="14243D"/>
                </a:solidFill>
                <a:latin typeface="Cambria" pitchFamily="34" charset="0"/>
                <a:ea typeface="Cambria" pitchFamily="34" charset="-122"/>
                <a:cs typeface="Cambria" pitchFamily="34" charset="-120"/>
              </a:rPr>
              <a:t>4 · Forensic attribution</a:t>
            </a:r>
            <a:endParaRPr lang="en-US" sz="1700" dirty="0"/>
          </a:p>
        </p:txBody>
      </p:sp>
      <p:sp>
        <p:nvSpPr>
          <p:cNvPr id="18" name="Text 16"/>
          <p:cNvSpPr/>
          <p:nvPr/>
        </p:nvSpPr>
        <p:spPr>
          <a:xfrm>
            <a:off x="6565392" y="4800600"/>
            <a:ext cx="4846320" cy="1051560"/>
          </a:xfrm>
          <a:prstGeom prst="rect">
            <a:avLst/>
          </a:prstGeom>
          <a:noFill/>
          <a:ln/>
        </p:spPr>
        <p:txBody>
          <a:bodyPr wrap="square" lIns="0" tIns="0" rIns="0" bIns="0" rtlCol="0" anchor="t"/>
          <a:lstStyle/>
          <a:p>
            <a:pPr indent="0" marL="0">
              <a:buNone/>
            </a:pPr>
            <a:r>
              <a:rPr lang="en-US" sz="1350" dirty="0">
                <a:solidFill>
                  <a:srgbClr val="21303F"/>
                </a:solidFill>
                <a:latin typeface="Calibri" pitchFamily="34" charset="0"/>
                <a:ea typeface="Calibri" pitchFamily="34" charset="-122"/>
                <a:cs typeface="Calibri" pitchFamily="34" charset="-120"/>
              </a:rPr>
              <a:t>Infer the synthesis route from the error phenotype — now measured, not just specified.</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43D"/>
        </a:solidFill>
      </p:bgPr>
    </p:bg>
    <p:spTree>
      <p:nvGrpSpPr>
        <p:cNvPr id="1" name=""/>
        <p:cNvGrpSpPr/>
        <p:nvPr/>
      </p:nvGrpSpPr>
      <p:grpSpPr>
        <a:xfrm>
          <a:off x="0" y="0"/>
          <a:ext cx="0" cy="0"/>
          <a:chOff x="0" y="0"/>
          <a:chExt cx="0" cy="0"/>
        </a:xfrm>
      </p:grpSpPr>
      <p:sp>
        <p:nvSpPr>
          <p:cNvPr id="2" name="Text 0"/>
          <p:cNvSpPr/>
          <p:nvPr/>
        </p:nvSpPr>
        <p:spPr>
          <a:xfrm>
            <a:off x="822960" y="2651760"/>
            <a:ext cx="10058400" cy="457200"/>
          </a:xfrm>
          <a:prstGeom prst="rect">
            <a:avLst/>
          </a:prstGeom>
          <a:noFill/>
          <a:ln/>
        </p:spPr>
        <p:txBody>
          <a:bodyPr wrap="square" lIns="0" tIns="0" rIns="0" bIns="0" rtlCol="0" anchor="ctr"/>
          <a:lstStyle/>
          <a:p>
            <a:pPr indent="0" marL="0">
              <a:buNone/>
            </a:pPr>
            <a:r>
              <a:rPr lang="en-US" sz="1600" spc="200" kern="0" dirty="0">
                <a:solidFill>
                  <a:srgbClr val="2A9D8F"/>
                </a:solidFill>
                <a:latin typeface="Calibri" pitchFamily="34" charset="0"/>
                <a:ea typeface="Calibri" pitchFamily="34" charset="-122"/>
                <a:cs typeface="Calibri" pitchFamily="34" charset="-120"/>
              </a:rPr>
              <a:t>Workstream 1</a:t>
            </a:r>
            <a:endParaRPr lang="en-US" sz="1600" dirty="0"/>
          </a:p>
        </p:txBody>
      </p:sp>
      <p:sp>
        <p:nvSpPr>
          <p:cNvPr id="3" name="Text 1"/>
          <p:cNvSpPr/>
          <p:nvPr/>
        </p:nvSpPr>
        <p:spPr>
          <a:xfrm>
            <a:off x="822960" y="3108960"/>
            <a:ext cx="10515600" cy="12801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Technology readiness (TRI)</a:t>
            </a:r>
            <a:endParaRPr lang="en-US" sz="3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64592" cy="164592"/>
          </a:xfrm>
          <a:prstGeom prst="rect">
            <a:avLst/>
          </a:prstGeom>
          <a:solidFill>
            <a:srgbClr val="1C7293"/>
          </a:solidFill>
          <a:ln/>
        </p:spPr>
      </p:sp>
      <p:sp>
        <p:nvSpPr>
          <p:cNvPr id="3" name="Text 1"/>
          <p:cNvSpPr/>
          <p:nvPr/>
        </p:nvSpPr>
        <p:spPr>
          <a:xfrm>
            <a:off x="777240" y="365760"/>
            <a:ext cx="10881360" cy="640080"/>
          </a:xfrm>
          <a:prstGeom prst="rect">
            <a:avLst/>
          </a:prstGeom>
          <a:noFill/>
          <a:ln/>
        </p:spPr>
        <p:txBody>
          <a:bodyPr wrap="square" lIns="0" tIns="0" rIns="0" bIns="0" rtlCol="0" anchor="ctr"/>
          <a:lstStyle/>
          <a:p>
            <a:pPr indent="0" marL="0">
              <a:buNone/>
            </a:pPr>
            <a:r>
              <a:rPr lang="en-US" sz="3000" b="1" dirty="0">
                <a:solidFill>
                  <a:srgbClr val="14243D"/>
                </a:solidFill>
                <a:latin typeface="Cambria" pitchFamily="34" charset="0"/>
                <a:ea typeface="Cambria" pitchFamily="34" charset="-122"/>
                <a:cs typeface="Cambria" pitchFamily="34" charset="-120"/>
              </a:rPr>
              <a:t>Seven approaches, scored by readiness</a:t>
            </a:r>
            <a:endParaRPr lang="en-US" sz="3000" dirty="0"/>
          </a:p>
        </p:txBody>
      </p:sp>
      <p:sp>
        <p:nvSpPr>
          <p:cNvPr id="4" name="Text 2"/>
          <p:cNvSpPr/>
          <p:nvPr/>
        </p:nvSpPr>
        <p:spPr>
          <a:xfrm>
            <a:off x="777240" y="1024128"/>
            <a:ext cx="10698480" cy="45720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The zone of interest is TRL 3–6: mature enough to work, accessible enough to reproduce outside a provider.</a:t>
            </a:r>
            <a:endParaRPr lang="en-US" sz="1500" dirty="0"/>
          </a:p>
        </p:txBody>
      </p:sp>
      <p:sp>
        <p:nvSpPr>
          <p:cNvPr id="5" name="Text 3"/>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DNA synthesis screening under device proliferation</a:t>
            </a:r>
            <a:endParaRPr lang="en-US" sz="900" dirty="0"/>
          </a:p>
        </p:txBody>
      </p:sp>
      <p:sp>
        <p:nvSpPr>
          <p:cNvPr id="6" name="Text 4"/>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7" name="Text 5"/>
          <p:cNvSpPr/>
          <p:nvPr/>
        </p:nvSpPr>
        <p:spPr>
          <a:xfrm>
            <a:off x="777240" y="1828800"/>
            <a:ext cx="3977640" cy="4023360"/>
          </a:xfrm>
          <a:prstGeom prst="rect">
            <a:avLst/>
          </a:prstGeom>
          <a:noFill/>
          <a:ln/>
        </p:spPr>
        <p:txBody>
          <a:bodyPr wrap="square" rtlCol="0" anchor="t"/>
          <a:lstStyle/>
          <a:p>
            <a:pPr marL="342900" indent="-342900">
              <a:spcAft>
                <a:spcPts val="1000"/>
              </a:spcAft>
              <a:buSzPct val="100000"/>
              <a:buChar char="•"/>
            </a:pPr>
            <a:r>
              <a:rPr lang="en-US" sz="1500" dirty="0">
                <a:solidFill>
                  <a:srgbClr val="21303F"/>
                </a:solidFill>
                <a:latin typeface="Calibri" pitchFamily="34" charset="0"/>
                <a:ea typeface="Calibri" pitchFamily="34" charset="-122"/>
                <a:cs typeface="Calibri" pitchFamily="34" charset="-120"/>
              </a:rPr>
              <a:t>OpenIDS &amp; MAS 2.0 — open-source DIY builds (TRL 5)</a:t>
            </a:r>
            <a:endParaRPr lang="en-US" sz="1500" dirty="0"/>
          </a:p>
          <a:p>
            <a:pPr marL="342900" indent="-342900">
              <a:spcAft>
                <a:spcPts val="1000"/>
              </a:spcAft>
              <a:buSzPct val="100000"/>
              <a:buChar char="•"/>
            </a:pPr>
            <a:r>
              <a:rPr lang="en-US" sz="1500" dirty="0">
                <a:solidFill>
                  <a:srgbClr val="21303F"/>
                </a:solidFill>
                <a:latin typeface="Calibri" pitchFamily="34" charset="0"/>
                <a:ea typeface="Calibri" pitchFamily="34" charset="-122"/>
                <a:cs typeface="Calibri" pitchFamily="34" charset="-120"/>
              </a:rPr>
              <a:t>DropSynth — DIY gene assembly (TRL 4)</a:t>
            </a:r>
            <a:endParaRPr lang="en-US" sz="1500" dirty="0"/>
          </a:p>
          <a:p>
            <a:pPr marL="342900" indent="-342900">
              <a:spcAft>
                <a:spcPts val="1000"/>
              </a:spcAft>
              <a:buSzPct val="100000"/>
              <a:buChar char="•"/>
            </a:pPr>
            <a:r>
              <a:rPr lang="en-US" sz="1500" dirty="0">
                <a:solidFill>
                  <a:srgbClr val="21303F"/>
                </a:solidFill>
                <a:latin typeface="Calibri" pitchFamily="34" charset="0"/>
                <a:ea typeface="Calibri" pitchFamily="34" charset="-122"/>
                <a:cs typeface="Calibri" pitchFamily="34" charset="-120"/>
              </a:rPr>
              <a:t>Electrochemical — no DIY build yet (TRL 3)</a:t>
            </a:r>
            <a:endParaRPr lang="en-US" sz="1500" dirty="0"/>
          </a:p>
          <a:p>
            <a:pPr marL="342900" indent="-342900">
              <a:spcAft>
                <a:spcPts val="1000"/>
              </a:spcAft>
              <a:buSzPct val="100000"/>
              <a:buChar char="•"/>
            </a:pPr>
            <a:r>
              <a:rPr lang="en-US" sz="1500" dirty="0">
                <a:solidFill>
                  <a:srgbClr val="21303F"/>
                </a:solidFill>
                <a:latin typeface="Calibri" pitchFamily="34" charset="0"/>
                <a:ea typeface="Calibri" pitchFamily="34" charset="-122"/>
                <a:cs typeface="Calibri" pitchFamily="34" charset="-120"/>
              </a:rPr>
              <a:t>Commercial — mature baseline (TRL 9), reached by purchase</a:t>
            </a:r>
            <a:endParaRPr lang="en-US" sz="1500" dirty="0"/>
          </a:p>
        </p:txBody>
      </p:sp>
      <p:pic>
        <p:nvPicPr>
          <p:cNvPr id="8" name="Image 0" descr="figs/fig1_1_trl.png">    </p:cNvPr>
          <p:cNvPicPr>
            <a:picLocks noChangeAspect="1"/>
          </p:cNvPicPr>
          <p:nvPr/>
        </p:nvPicPr>
        <p:blipFill>
          <a:blip r:embed="rId1"/>
          <a:srcRect l="0" r="0" t="0" b="0"/>
          <a:stretch/>
        </p:blipFill>
        <p:spPr>
          <a:xfrm>
            <a:off x="5029200" y="1737360"/>
            <a:ext cx="6400800" cy="42976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64592" cy="164592"/>
          </a:xfrm>
          <a:prstGeom prst="rect">
            <a:avLst/>
          </a:prstGeom>
          <a:solidFill>
            <a:srgbClr val="1C7293"/>
          </a:solidFill>
          <a:ln/>
        </p:spPr>
      </p:sp>
      <p:sp>
        <p:nvSpPr>
          <p:cNvPr id="3" name="Text 1"/>
          <p:cNvSpPr/>
          <p:nvPr/>
        </p:nvSpPr>
        <p:spPr>
          <a:xfrm>
            <a:off x="777240" y="365760"/>
            <a:ext cx="10881360" cy="640080"/>
          </a:xfrm>
          <a:prstGeom prst="rect">
            <a:avLst/>
          </a:prstGeom>
          <a:noFill/>
          <a:ln/>
        </p:spPr>
        <p:txBody>
          <a:bodyPr wrap="square" lIns="0" tIns="0" rIns="0" bIns="0" rtlCol="0" anchor="ctr"/>
          <a:lstStyle/>
          <a:p>
            <a:pPr indent="0" marL="0">
              <a:buNone/>
            </a:pPr>
            <a:r>
              <a:rPr lang="en-US" sz="3000" b="1" dirty="0">
                <a:solidFill>
                  <a:srgbClr val="14243D"/>
                </a:solidFill>
                <a:latin typeface="Cambria" pitchFamily="34" charset="0"/>
                <a:ea typeface="Cambria" pitchFamily="34" charset="-122"/>
                <a:cs typeface="Cambria" pitchFamily="34" charset="-120"/>
              </a:rPr>
              <a:t>Usable length, not advertised length</a:t>
            </a:r>
            <a:endParaRPr lang="en-US" sz="3000" dirty="0"/>
          </a:p>
        </p:txBody>
      </p:sp>
      <p:sp>
        <p:nvSpPr>
          <p:cNvPr id="4" name="Text 2"/>
          <p:cNvSpPr/>
          <p:nvPr/>
        </p:nvSpPr>
        <p:spPr>
          <a:xfrm>
            <a:off x="777240" y="1024128"/>
            <a:ext cx="10698480" cy="45720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Capability is scored by what's demonstrated at fidelity — not the spec sheet.</a:t>
            </a:r>
            <a:endParaRPr lang="en-US" sz="1500" dirty="0"/>
          </a:p>
        </p:txBody>
      </p:sp>
      <p:sp>
        <p:nvSpPr>
          <p:cNvPr id="5" name="Text 3"/>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DNA synthesis screening under device proliferation</a:t>
            </a:r>
            <a:endParaRPr lang="en-US" sz="900" dirty="0"/>
          </a:p>
        </p:txBody>
      </p:sp>
      <p:sp>
        <p:nvSpPr>
          <p:cNvPr id="6" name="Text 4"/>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7" name="Shape 5"/>
          <p:cNvSpPr/>
          <p:nvPr/>
        </p:nvSpPr>
        <p:spPr>
          <a:xfrm>
            <a:off x="548640" y="2194560"/>
            <a:ext cx="3392424" cy="2743200"/>
          </a:xfrm>
          <a:prstGeom prst="roundRect">
            <a:avLst>
              <a:gd name="adj" fmla="val 3333"/>
            </a:avLst>
          </a:prstGeom>
          <a:solidFill>
            <a:srgbClr val="F2F5F7"/>
          </a:solidFill>
          <a:ln w="12700">
            <a:solidFill>
              <a:srgbClr val="D7DEE5"/>
            </a:solidFill>
            <a:prstDash val="solid"/>
          </a:ln>
        </p:spPr>
      </p:sp>
      <p:sp>
        <p:nvSpPr>
          <p:cNvPr id="8" name="Text 6"/>
          <p:cNvSpPr/>
          <p:nvPr/>
        </p:nvSpPr>
        <p:spPr>
          <a:xfrm>
            <a:off x="685800" y="2697480"/>
            <a:ext cx="3118104" cy="1005840"/>
          </a:xfrm>
          <a:prstGeom prst="rect">
            <a:avLst/>
          </a:prstGeom>
          <a:noFill/>
          <a:ln/>
        </p:spPr>
        <p:txBody>
          <a:bodyPr wrap="square" lIns="0" tIns="0" rIns="0" bIns="0" rtlCol="0" anchor="ctr"/>
          <a:lstStyle/>
          <a:p>
            <a:pPr algn="ctr" indent="0" marL="0">
              <a:buNone/>
            </a:pPr>
            <a:r>
              <a:rPr lang="en-US" sz="4600" b="1" dirty="0">
                <a:solidFill>
                  <a:srgbClr val="1C7293"/>
                </a:solidFill>
                <a:latin typeface="Cambria" pitchFamily="34" charset="0"/>
                <a:ea typeface="Cambria" pitchFamily="34" charset="-122"/>
                <a:cs typeface="Cambria" pitchFamily="34" charset="-120"/>
              </a:rPr>
              <a:t>~55%</a:t>
            </a:r>
            <a:endParaRPr lang="en-US" sz="4600" dirty="0"/>
          </a:p>
        </p:txBody>
      </p:sp>
      <p:sp>
        <p:nvSpPr>
          <p:cNvPr id="9" name="Text 7"/>
          <p:cNvSpPr/>
          <p:nvPr/>
        </p:nvSpPr>
        <p:spPr>
          <a:xfrm>
            <a:off x="777240" y="3794760"/>
            <a:ext cx="2935224" cy="914400"/>
          </a:xfrm>
          <a:prstGeom prst="rect">
            <a:avLst/>
          </a:prstGeom>
          <a:noFill/>
          <a:ln/>
        </p:spPr>
        <p:txBody>
          <a:bodyPr wrap="square" lIns="0" tIns="0" rIns="0" bIns="0" rtlCol="0" anchor="t"/>
          <a:lstStyle/>
          <a:p>
            <a:pPr algn="ctr" indent="0" marL="0">
              <a:buNone/>
            </a:pPr>
            <a:r>
              <a:rPr lang="en-US" sz="1400" dirty="0">
                <a:solidFill>
                  <a:srgbClr val="21303F"/>
                </a:solidFill>
                <a:latin typeface="Calibri" pitchFamily="34" charset="0"/>
                <a:ea typeface="Calibri" pitchFamily="34" charset="-122"/>
                <a:cs typeface="Calibri" pitchFamily="34" charset="-120"/>
              </a:rPr>
              <a:t>OpenIDS full-length product at a 30-mer</a:t>
            </a:r>
            <a:endParaRPr lang="en-US" sz="1400" dirty="0"/>
          </a:p>
        </p:txBody>
      </p:sp>
      <p:sp>
        <p:nvSpPr>
          <p:cNvPr id="10" name="Shape 8"/>
          <p:cNvSpPr/>
          <p:nvPr/>
        </p:nvSpPr>
        <p:spPr>
          <a:xfrm>
            <a:off x="4398264" y="2194560"/>
            <a:ext cx="3392424" cy="2743200"/>
          </a:xfrm>
          <a:prstGeom prst="roundRect">
            <a:avLst>
              <a:gd name="adj" fmla="val 3333"/>
            </a:avLst>
          </a:prstGeom>
          <a:solidFill>
            <a:srgbClr val="F2F5F7"/>
          </a:solidFill>
          <a:ln w="12700">
            <a:solidFill>
              <a:srgbClr val="D7DEE5"/>
            </a:solidFill>
            <a:prstDash val="solid"/>
          </a:ln>
        </p:spPr>
      </p:sp>
      <p:sp>
        <p:nvSpPr>
          <p:cNvPr id="11" name="Text 9"/>
          <p:cNvSpPr/>
          <p:nvPr/>
        </p:nvSpPr>
        <p:spPr>
          <a:xfrm>
            <a:off x="4535424" y="2697480"/>
            <a:ext cx="3118104" cy="1005840"/>
          </a:xfrm>
          <a:prstGeom prst="rect">
            <a:avLst/>
          </a:prstGeom>
          <a:noFill/>
          <a:ln/>
        </p:spPr>
        <p:txBody>
          <a:bodyPr wrap="square" lIns="0" tIns="0" rIns="0" bIns="0" rtlCol="0" anchor="ctr"/>
          <a:lstStyle/>
          <a:p>
            <a:pPr algn="ctr" indent="0" marL="0">
              <a:buNone/>
            </a:pPr>
            <a:r>
              <a:rPr lang="en-US" sz="3400" b="1" dirty="0">
                <a:solidFill>
                  <a:srgbClr val="1C7293"/>
                </a:solidFill>
                <a:latin typeface="Cambria" pitchFamily="34" charset="0"/>
                <a:ea typeface="Cambria" pitchFamily="34" charset="-122"/>
                <a:cs typeface="Cambria" pitchFamily="34" charset="-120"/>
              </a:rPr>
              <a:t>~15–30 nt</a:t>
            </a:r>
            <a:endParaRPr lang="en-US" sz="3400" dirty="0"/>
          </a:p>
        </p:txBody>
      </p:sp>
      <p:sp>
        <p:nvSpPr>
          <p:cNvPr id="12" name="Text 10"/>
          <p:cNvSpPr/>
          <p:nvPr/>
        </p:nvSpPr>
        <p:spPr>
          <a:xfrm>
            <a:off x="4626864" y="3794760"/>
            <a:ext cx="2935224" cy="914400"/>
          </a:xfrm>
          <a:prstGeom prst="rect">
            <a:avLst/>
          </a:prstGeom>
          <a:noFill/>
          <a:ln/>
        </p:spPr>
        <p:txBody>
          <a:bodyPr wrap="square" lIns="0" tIns="0" rIns="0" bIns="0" rtlCol="0" anchor="t"/>
          <a:lstStyle/>
          <a:p>
            <a:pPr algn="ctr" indent="0" marL="0">
              <a:buNone/>
            </a:pPr>
            <a:r>
              <a:rPr lang="en-US" sz="1400" dirty="0">
                <a:solidFill>
                  <a:srgbClr val="21303F"/>
                </a:solidFill>
                <a:latin typeface="Calibri" pitchFamily="34" charset="0"/>
                <a:ea typeface="Calibri" pitchFamily="34" charset="-122"/>
                <a:cs typeface="Calibri" pitchFamily="34" charset="-120"/>
              </a:rPr>
              <a:t>usable length at fidelity (only a poly-dT demonstrated)</a:t>
            </a:r>
            <a:endParaRPr lang="en-US" sz="1400" dirty="0"/>
          </a:p>
        </p:txBody>
      </p:sp>
      <p:sp>
        <p:nvSpPr>
          <p:cNvPr id="13" name="Shape 11"/>
          <p:cNvSpPr/>
          <p:nvPr/>
        </p:nvSpPr>
        <p:spPr>
          <a:xfrm>
            <a:off x="8247888" y="2194560"/>
            <a:ext cx="3392424" cy="2743200"/>
          </a:xfrm>
          <a:prstGeom prst="roundRect">
            <a:avLst>
              <a:gd name="adj" fmla="val 3333"/>
            </a:avLst>
          </a:prstGeom>
          <a:solidFill>
            <a:srgbClr val="F2F5F7"/>
          </a:solidFill>
          <a:ln w="12700">
            <a:solidFill>
              <a:srgbClr val="D7DEE5"/>
            </a:solidFill>
            <a:prstDash val="solid"/>
          </a:ln>
        </p:spPr>
      </p:sp>
      <p:sp>
        <p:nvSpPr>
          <p:cNvPr id="14" name="Text 12"/>
          <p:cNvSpPr/>
          <p:nvPr/>
        </p:nvSpPr>
        <p:spPr>
          <a:xfrm>
            <a:off x="8385048" y="2697480"/>
            <a:ext cx="3118104" cy="1005840"/>
          </a:xfrm>
          <a:prstGeom prst="rect">
            <a:avLst/>
          </a:prstGeom>
          <a:noFill/>
          <a:ln/>
        </p:spPr>
        <p:txBody>
          <a:bodyPr wrap="square" lIns="0" tIns="0" rIns="0" bIns="0" rtlCol="0" anchor="ctr"/>
          <a:lstStyle/>
          <a:p>
            <a:pPr algn="ctr" indent="0" marL="0">
              <a:buNone/>
            </a:pPr>
            <a:r>
              <a:rPr lang="en-US" sz="4600" b="1" dirty="0">
                <a:solidFill>
                  <a:srgbClr val="1C7293"/>
                </a:solidFill>
                <a:latin typeface="Cambria" pitchFamily="34" charset="0"/>
                <a:ea typeface="Cambria" pitchFamily="34" charset="-122"/>
                <a:cs typeface="Cambria" pitchFamily="34" charset="-120"/>
              </a:rPr>
              <a:t>&gt;90%</a:t>
            </a:r>
            <a:endParaRPr lang="en-US" sz="4600" dirty="0"/>
          </a:p>
        </p:txBody>
      </p:sp>
      <p:sp>
        <p:nvSpPr>
          <p:cNvPr id="15" name="Text 13"/>
          <p:cNvSpPr/>
          <p:nvPr/>
        </p:nvSpPr>
        <p:spPr>
          <a:xfrm>
            <a:off x="8476488" y="3794760"/>
            <a:ext cx="2935224" cy="914400"/>
          </a:xfrm>
          <a:prstGeom prst="rect">
            <a:avLst/>
          </a:prstGeom>
          <a:noFill/>
          <a:ln/>
        </p:spPr>
        <p:txBody>
          <a:bodyPr wrap="square" lIns="0" tIns="0" rIns="0" bIns="0" rtlCol="0" anchor="t"/>
          <a:lstStyle/>
          <a:p>
            <a:pPr algn="ctr" indent="0" marL="0">
              <a:buNone/>
            </a:pPr>
            <a:r>
              <a:rPr lang="en-US" sz="1400" dirty="0">
                <a:solidFill>
                  <a:srgbClr val="21303F"/>
                </a:solidFill>
                <a:latin typeface="Calibri" pitchFamily="34" charset="0"/>
                <a:ea typeface="Calibri" pitchFamily="34" charset="-122"/>
                <a:cs typeface="Calibri" pitchFamily="34" charset="-120"/>
              </a:rPr>
              <a:t>full-length that gene assembly actually needs</a:t>
            </a:r>
            <a:endParaRPr lang="en-US" sz="1400" dirty="0"/>
          </a:p>
        </p:txBody>
      </p:sp>
      <p:sp>
        <p:nvSpPr>
          <p:cNvPr id="16" name="Text 14"/>
          <p:cNvSpPr/>
          <p:nvPr/>
        </p:nvSpPr>
        <p:spPr>
          <a:xfrm>
            <a:off x="548640" y="5394960"/>
            <a:ext cx="11064240" cy="548640"/>
          </a:xfrm>
          <a:prstGeom prst="rect">
            <a:avLst/>
          </a:prstGeom>
          <a:noFill/>
          <a:ln/>
        </p:spPr>
        <p:txBody>
          <a:bodyPr wrap="square" lIns="0" tIns="0" rIns="0" bIns="0"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This discipline is what keeps the threat assessment honest — advertised maxima overstate DIY capability.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64592" cy="164592"/>
          </a:xfrm>
          <a:prstGeom prst="rect">
            <a:avLst/>
          </a:prstGeom>
          <a:solidFill>
            <a:srgbClr val="1C7293"/>
          </a:solidFill>
          <a:ln/>
        </p:spPr>
      </p:sp>
      <p:sp>
        <p:nvSpPr>
          <p:cNvPr id="3" name="Text 1"/>
          <p:cNvSpPr/>
          <p:nvPr/>
        </p:nvSpPr>
        <p:spPr>
          <a:xfrm>
            <a:off x="777240" y="365760"/>
            <a:ext cx="10881360" cy="640080"/>
          </a:xfrm>
          <a:prstGeom prst="rect">
            <a:avLst/>
          </a:prstGeom>
          <a:noFill/>
          <a:ln/>
        </p:spPr>
        <p:txBody>
          <a:bodyPr wrap="square" lIns="0" tIns="0" rIns="0" bIns="0" rtlCol="0" anchor="ctr"/>
          <a:lstStyle/>
          <a:p>
            <a:pPr indent="0" marL="0">
              <a:buNone/>
            </a:pPr>
            <a:r>
              <a:rPr lang="en-US" sz="3000" b="1" dirty="0">
                <a:solidFill>
                  <a:srgbClr val="14243D"/>
                </a:solidFill>
                <a:latin typeface="Cambria" pitchFamily="34" charset="0"/>
                <a:ea typeface="Cambria" pitchFamily="34" charset="-122"/>
                <a:cs typeface="Cambria" pitchFamily="34" charset="-120"/>
              </a:rPr>
              <a:t>Capital cost by approach</a:t>
            </a:r>
            <a:endParaRPr lang="en-US" sz="3000" dirty="0"/>
          </a:p>
        </p:txBody>
      </p:sp>
      <p:sp>
        <p:nvSpPr>
          <p:cNvPr id="4" name="Text 2"/>
          <p:cNvSpPr/>
          <p:nvPr/>
        </p:nvSpPr>
        <p:spPr>
          <a:xfrm>
            <a:off x="777240" y="1024128"/>
            <a:ext cx="10698480" cy="45720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DIY builds are cheap; the enzymatic benchtop is not — and DropSynth's low cost buys assembly, not unscreened synthesis.</a:t>
            </a:r>
            <a:endParaRPr lang="en-US" sz="1500" dirty="0"/>
          </a:p>
        </p:txBody>
      </p:sp>
      <p:sp>
        <p:nvSpPr>
          <p:cNvPr id="5" name="Text 3"/>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DNA synthesis screening under device proliferation</a:t>
            </a:r>
            <a:endParaRPr lang="en-US" sz="900" dirty="0"/>
          </a:p>
        </p:txBody>
      </p:sp>
      <p:sp>
        <p:nvSpPr>
          <p:cNvPr id="6" name="Text 4"/>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pic>
        <p:nvPicPr>
          <p:cNvPr id="7" name="Image 0" descr="figs/fig1_2_capital.png">    </p:cNvPr>
          <p:cNvPicPr>
            <a:picLocks noChangeAspect="1"/>
          </p:cNvPicPr>
          <p:nvPr/>
        </p:nvPicPr>
        <p:blipFill>
          <a:blip r:embed="rId1"/>
          <a:srcRect l="0" r="0" t="0" b="0"/>
          <a:stretch/>
        </p:blipFill>
        <p:spPr>
          <a:xfrm>
            <a:off x="822960" y="1600200"/>
            <a:ext cx="10543032" cy="4526280"/>
          </a:xfrm>
          <a:prstGeom prst="rect">
            <a:avLst/>
          </a:prstGeom>
        </p:spPr>
      </p:pic>
      <p:sp>
        <p:nvSpPr>
          <p:cNvPr id="8" name="Text 5"/>
          <p:cNvSpPr/>
          <p:nvPr/>
        </p:nvSpPr>
        <p:spPr>
          <a:xfrm>
            <a:off x="822960" y="6144768"/>
            <a:ext cx="10515600" cy="274320"/>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OpenIDS ~$20K · MAS 2.0 ~$30K · DropSynth ~$3.4K bead pool · enzymatic SYNTAX ~$292K · commercial ~$60K</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64592" cy="164592"/>
          </a:xfrm>
          <a:prstGeom prst="rect">
            <a:avLst/>
          </a:prstGeom>
          <a:solidFill>
            <a:srgbClr val="1C7293"/>
          </a:solidFill>
          <a:ln/>
        </p:spPr>
      </p:sp>
      <p:sp>
        <p:nvSpPr>
          <p:cNvPr id="3" name="Text 1"/>
          <p:cNvSpPr/>
          <p:nvPr/>
        </p:nvSpPr>
        <p:spPr>
          <a:xfrm>
            <a:off x="777240" y="365760"/>
            <a:ext cx="10881360" cy="640080"/>
          </a:xfrm>
          <a:prstGeom prst="rect">
            <a:avLst/>
          </a:prstGeom>
          <a:noFill/>
          <a:ln/>
        </p:spPr>
        <p:txBody>
          <a:bodyPr wrap="square" lIns="0" tIns="0" rIns="0" bIns="0" rtlCol="0" anchor="ctr"/>
          <a:lstStyle/>
          <a:p>
            <a:pPr indent="0" marL="0">
              <a:buNone/>
            </a:pPr>
            <a:r>
              <a:rPr lang="en-US" sz="3000" b="1" dirty="0">
                <a:solidFill>
                  <a:srgbClr val="14243D"/>
                </a:solidFill>
                <a:latin typeface="Cambria" pitchFamily="34" charset="0"/>
                <a:ea typeface="Cambria" pitchFamily="34" charset="-122"/>
                <a:cs typeface="Cambria" pitchFamily="34" charset="-120"/>
              </a:rPr>
              <a:t>The real barrier is expertise</a:t>
            </a:r>
            <a:endParaRPr lang="en-US" sz="3000" dirty="0"/>
          </a:p>
        </p:txBody>
      </p:sp>
      <p:sp>
        <p:nvSpPr>
          <p:cNvPr id="4" name="Text 2"/>
          <p:cNvSpPr/>
          <p:nvPr/>
        </p:nvSpPr>
        <p:spPr>
          <a:xfrm>
            <a:off x="777240" y="1024128"/>
            <a:ext cx="10698480" cy="45720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The accessible routes are the hardest to run; the easy routes are the ones you buy.</a:t>
            </a:r>
            <a:endParaRPr lang="en-US" sz="1500" dirty="0"/>
          </a:p>
        </p:txBody>
      </p:sp>
      <p:sp>
        <p:nvSpPr>
          <p:cNvPr id="5" name="Text 3"/>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DNA synthesis screening under device proliferation</a:t>
            </a:r>
            <a:endParaRPr lang="en-US" sz="900" dirty="0"/>
          </a:p>
        </p:txBody>
      </p:sp>
      <p:sp>
        <p:nvSpPr>
          <p:cNvPr id="6" name="Text 4"/>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pic>
        <p:nvPicPr>
          <p:cNvPr id="7" name="Image 0" descr="figs/fig1_3_expertise.png">    </p:cNvPr>
          <p:cNvPicPr>
            <a:picLocks noChangeAspect="1"/>
          </p:cNvPicPr>
          <p:nvPr/>
        </p:nvPicPr>
        <p:blipFill>
          <a:blip r:embed="rId1"/>
          <a:srcRect l="0" r="0" t="0" b="0"/>
          <a:stretch/>
        </p:blipFill>
        <p:spPr>
          <a:xfrm>
            <a:off x="822960" y="1600200"/>
            <a:ext cx="10543032" cy="4526280"/>
          </a:xfrm>
          <a:prstGeom prst="rect">
            <a:avLst/>
          </a:prstGeom>
        </p:spPr>
      </p:pic>
      <p:sp>
        <p:nvSpPr>
          <p:cNvPr id="8" name="Text 5"/>
          <p:cNvSpPr/>
          <p:nvPr/>
        </p:nvSpPr>
        <p:spPr>
          <a:xfrm>
            <a:off x="822960" y="6144768"/>
            <a:ext cx="10515600" cy="274320"/>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Expertise-to-first-use score (1 = push-button, 10 = specialist)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43D"/>
        </a:solidFill>
      </p:bgPr>
    </p:bg>
    <p:spTree>
      <p:nvGrpSpPr>
        <p:cNvPr id="1" name=""/>
        <p:cNvGrpSpPr/>
        <p:nvPr/>
      </p:nvGrpSpPr>
      <p:grpSpPr>
        <a:xfrm>
          <a:off x="0" y="0"/>
          <a:ext cx="0" cy="0"/>
          <a:chOff x="0" y="0"/>
          <a:chExt cx="0" cy="0"/>
        </a:xfrm>
      </p:grpSpPr>
      <p:sp>
        <p:nvSpPr>
          <p:cNvPr id="2" name="Text 0"/>
          <p:cNvSpPr/>
          <p:nvPr/>
        </p:nvSpPr>
        <p:spPr>
          <a:xfrm>
            <a:off x="822960" y="2651760"/>
            <a:ext cx="10058400" cy="457200"/>
          </a:xfrm>
          <a:prstGeom prst="rect">
            <a:avLst/>
          </a:prstGeom>
          <a:noFill/>
          <a:ln/>
        </p:spPr>
        <p:txBody>
          <a:bodyPr wrap="square" lIns="0" tIns="0" rIns="0" bIns="0" rtlCol="0" anchor="ctr"/>
          <a:lstStyle/>
          <a:p>
            <a:pPr indent="0" marL="0">
              <a:buNone/>
            </a:pPr>
            <a:r>
              <a:rPr lang="en-US" sz="1600" spc="200" kern="0" dirty="0">
                <a:solidFill>
                  <a:srgbClr val="2A9D8F"/>
                </a:solidFill>
                <a:latin typeface="Calibri" pitchFamily="34" charset="0"/>
                <a:ea typeface="Calibri" pitchFamily="34" charset="-122"/>
                <a:cs typeface="Calibri" pitchFamily="34" charset="-120"/>
              </a:rPr>
              <a:t>Workstream 2</a:t>
            </a:r>
            <a:endParaRPr lang="en-US" sz="1600" dirty="0"/>
          </a:p>
        </p:txBody>
      </p:sp>
      <p:sp>
        <p:nvSpPr>
          <p:cNvPr id="3" name="Text 1"/>
          <p:cNvSpPr/>
          <p:nvPr/>
        </p:nvSpPr>
        <p:spPr>
          <a:xfrm>
            <a:off x="822960" y="3108960"/>
            <a:ext cx="10515600" cy="12801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Cost &amp; accessibility</a:t>
            </a:r>
            <a:endParaRPr lang="en-US" sz="3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64592" cy="164592"/>
          </a:xfrm>
          <a:prstGeom prst="rect">
            <a:avLst/>
          </a:prstGeom>
          <a:solidFill>
            <a:srgbClr val="1C7293"/>
          </a:solidFill>
          <a:ln/>
        </p:spPr>
      </p:sp>
      <p:sp>
        <p:nvSpPr>
          <p:cNvPr id="3" name="Text 1"/>
          <p:cNvSpPr/>
          <p:nvPr/>
        </p:nvSpPr>
        <p:spPr>
          <a:xfrm>
            <a:off x="777240" y="365760"/>
            <a:ext cx="10881360" cy="640080"/>
          </a:xfrm>
          <a:prstGeom prst="rect">
            <a:avLst/>
          </a:prstGeom>
          <a:noFill/>
          <a:ln/>
        </p:spPr>
        <p:txBody>
          <a:bodyPr wrap="square" lIns="0" tIns="0" rIns="0" bIns="0" rtlCol="0" anchor="ctr"/>
          <a:lstStyle/>
          <a:p>
            <a:pPr indent="0" marL="0">
              <a:buNone/>
            </a:pPr>
            <a:r>
              <a:rPr lang="en-US" sz="3000" b="1" dirty="0">
                <a:solidFill>
                  <a:srgbClr val="14243D"/>
                </a:solidFill>
                <a:latin typeface="Cambria" pitchFamily="34" charset="0"/>
                <a:ea typeface="Cambria" pitchFamily="34" charset="-122"/>
                <a:cs typeface="Cambria" pitchFamily="34" charset="-120"/>
              </a:rPr>
              <a:t>DIY cost trajectory to 2030</a:t>
            </a:r>
            <a:endParaRPr lang="en-US" sz="3000" dirty="0"/>
          </a:p>
        </p:txBody>
      </p:sp>
      <p:sp>
        <p:nvSpPr>
          <p:cNvPr id="4" name="Text 2"/>
          <p:cNvSpPr/>
          <p:nvPr/>
        </p:nvSpPr>
        <p:spPr>
          <a:xfrm>
            <a:off x="777240" y="1024128"/>
            <a:ext cx="10698480" cy="45720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OpenIDS ~$19.9K → ~$12K base case — but the barrier is capital, not per-base cost.</a:t>
            </a:r>
            <a:endParaRPr lang="en-US" sz="1500" dirty="0"/>
          </a:p>
        </p:txBody>
      </p:sp>
      <p:sp>
        <p:nvSpPr>
          <p:cNvPr id="5" name="Text 3"/>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DNA synthesis screening under device proliferation</a:t>
            </a:r>
            <a:endParaRPr lang="en-US" sz="900" dirty="0"/>
          </a:p>
        </p:txBody>
      </p:sp>
      <p:sp>
        <p:nvSpPr>
          <p:cNvPr id="6" name="Text 4"/>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pic>
        <p:nvPicPr>
          <p:cNvPr id="7" name="Image 0" descr="figs/fig1_4_trajectories.png">    </p:cNvPr>
          <p:cNvPicPr>
            <a:picLocks noChangeAspect="1"/>
          </p:cNvPicPr>
          <p:nvPr/>
        </p:nvPicPr>
        <p:blipFill>
          <a:blip r:embed="rId1"/>
          <a:srcRect l="0" r="0" t="0" b="0"/>
          <a:stretch/>
        </p:blipFill>
        <p:spPr>
          <a:xfrm>
            <a:off x="822960" y="1600200"/>
            <a:ext cx="10543032" cy="4526280"/>
          </a:xfrm>
          <a:prstGeom prst="rect">
            <a:avLst/>
          </a:prstGeom>
        </p:spPr>
      </p:pic>
      <p:sp>
        <p:nvSpPr>
          <p:cNvPr id="8" name="Text 5"/>
          <p:cNvSpPr/>
          <p:nvPr/>
        </p:nvSpPr>
        <p:spPr>
          <a:xfrm>
            <a:off x="822960" y="6144768"/>
            <a:ext cx="10515600" cy="274320"/>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Conditional annual-decline scenarios, anchored to the Kim 2024 build</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64592" cy="164592"/>
          </a:xfrm>
          <a:prstGeom prst="rect">
            <a:avLst/>
          </a:prstGeom>
          <a:solidFill>
            <a:srgbClr val="1C7293"/>
          </a:solidFill>
          <a:ln/>
        </p:spPr>
      </p:sp>
      <p:sp>
        <p:nvSpPr>
          <p:cNvPr id="3" name="Text 1"/>
          <p:cNvSpPr/>
          <p:nvPr/>
        </p:nvSpPr>
        <p:spPr>
          <a:xfrm>
            <a:off x="777240" y="365760"/>
            <a:ext cx="10881360" cy="640080"/>
          </a:xfrm>
          <a:prstGeom prst="rect">
            <a:avLst/>
          </a:prstGeom>
          <a:noFill/>
          <a:ln/>
        </p:spPr>
        <p:txBody>
          <a:bodyPr wrap="square" lIns="0" tIns="0" rIns="0" bIns="0" rtlCol="0" anchor="ctr"/>
          <a:lstStyle/>
          <a:p>
            <a:pPr indent="0" marL="0">
              <a:buNone/>
            </a:pPr>
            <a:r>
              <a:rPr lang="en-US" sz="3000" b="1" dirty="0">
                <a:solidFill>
                  <a:srgbClr val="14243D"/>
                </a:solidFill>
                <a:latin typeface="Cambria" pitchFamily="34" charset="0"/>
                <a:ea typeface="Cambria" pitchFamily="34" charset="-122"/>
                <a:cs typeface="Cambria" pitchFamily="34" charset="-120"/>
              </a:rPr>
              <a:t>2030 capital cost by R&amp;D scenario</a:t>
            </a:r>
            <a:endParaRPr lang="en-US" sz="3000" dirty="0"/>
          </a:p>
        </p:txBody>
      </p:sp>
      <p:sp>
        <p:nvSpPr>
          <p:cNvPr id="4" name="Text 2"/>
          <p:cNvSpPr/>
          <p:nvPr/>
        </p:nvSpPr>
        <p:spPr>
          <a:xfrm>
            <a:off x="777240" y="1024128"/>
            <a:ext cx="10698480" cy="45720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Electrochemical is undefined until it works; enzymatic stays six-figure; only OpenIDS is genuinely low-cost.</a:t>
            </a:r>
            <a:endParaRPr lang="en-US" sz="1500" dirty="0"/>
          </a:p>
        </p:txBody>
      </p:sp>
      <p:sp>
        <p:nvSpPr>
          <p:cNvPr id="5" name="Text 3"/>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DNA synthesis screening under device proliferation</a:t>
            </a:r>
            <a:endParaRPr lang="en-US" sz="900" dirty="0"/>
          </a:p>
        </p:txBody>
      </p:sp>
      <p:sp>
        <p:nvSpPr>
          <p:cNvPr id="6" name="Text 4"/>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pic>
        <p:nvPicPr>
          <p:cNvPr id="7" name="Image 0" descr="figs/fig3_3_matrix.png">    </p:cNvPr>
          <p:cNvPicPr>
            <a:picLocks noChangeAspect="1"/>
          </p:cNvPicPr>
          <p:nvPr/>
        </p:nvPicPr>
        <p:blipFill>
          <a:blip r:embed="rId1"/>
          <a:srcRect l="0" r="0" t="0" b="0"/>
          <a:stretch/>
        </p:blipFill>
        <p:spPr>
          <a:xfrm>
            <a:off x="822960" y="1600200"/>
            <a:ext cx="10543032" cy="4526280"/>
          </a:xfrm>
          <a:prstGeom prst="rect">
            <a:avLst/>
          </a:prstGeom>
        </p:spPr>
      </p:pic>
      <p:sp>
        <p:nvSpPr>
          <p:cNvPr id="8" name="Text 5"/>
          <p:cNvSpPr/>
          <p:nvPr/>
        </p:nvSpPr>
        <p:spPr>
          <a:xfrm>
            <a:off x="822960" y="6144768"/>
            <a:ext cx="10515600" cy="274320"/>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Enzymatic scenarios track the Institute for Progress 2030 distribution ($112–298K)</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64592" cy="164592"/>
          </a:xfrm>
          <a:prstGeom prst="rect">
            <a:avLst/>
          </a:prstGeom>
          <a:solidFill>
            <a:srgbClr val="1C7293"/>
          </a:solidFill>
          <a:ln/>
        </p:spPr>
      </p:sp>
      <p:sp>
        <p:nvSpPr>
          <p:cNvPr id="3" name="Text 1"/>
          <p:cNvSpPr/>
          <p:nvPr/>
        </p:nvSpPr>
        <p:spPr>
          <a:xfrm>
            <a:off x="777240" y="365760"/>
            <a:ext cx="10881360" cy="640080"/>
          </a:xfrm>
          <a:prstGeom prst="rect">
            <a:avLst/>
          </a:prstGeom>
          <a:noFill/>
          <a:ln/>
        </p:spPr>
        <p:txBody>
          <a:bodyPr wrap="square" lIns="0" tIns="0" rIns="0" bIns="0" rtlCol="0" anchor="ctr"/>
          <a:lstStyle/>
          <a:p>
            <a:pPr indent="0" marL="0">
              <a:buNone/>
            </a:pPr>
            <a:r>
              <a:rPr lang="en-US" sz="3000" b="1" dirty="0">
                <a:solidFill>
                  <a:srgbClr val="14243D"/>
                </a:solidFill>
                <a:latin typeface="Cambria" pitchFamily="34" charset="0"/>
                <a:ea typeface="Cambria" pitchFamily="34" charset="-122"/>
                <a:cs typeface="Cambria" pitchFamily="34" charset="-120"/>
              </a:rPr>
              <a:t>The cheap part is the oligos</a:t>
            </a:r>
            <a:endParaRPr lang="en-US" sz="3000" dirty="0"/>
          </a:p>
        </p:txBody>
      </p:sp>
      <p:sp>
        <p:nvSpPr>
          <p:cNvPr id="4" name="Text 2"/>
          <p:cNvSpPr/>
          <p:nvPr/>
        </p:nvSpPr>
        <p:spPr>
          <a:xfrm>
            <a:off x="777240" y="1024128"/>
            <a:ext cx="10698480" cy="45720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The markup to a correct, functional gene is entirely assembly + validation — and it's tacit-knowledge-gated.</a:t>
            </a:r>
            <a:endParaRPr lang="en-US" sz="1500" dirty="0"/>
          </a:p>
        </p:txBody>
      </p:sp>
      <p:sp>
        <p:nvSpPr>
          <p:cNvPr id="5" name="Text 3"/>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DNA synthesis screening under device proliferation</a:t>
            </a:r>
            <a:endParaRPr lang="en-US" sz="900" dirty="0"/>
          </a:p>
        </p:txBody>
      </p:sp>
      <p:sp>
        <p:nvSpPr>
          <p:cNvPr id="6" name="Text 4"/>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
        <p:nvSpPr>
          <p:cNvPr id="7" name="Shape 5"/>
          <p:cNvSpPr/>
          <p:nvPr/>
        </p:nvSpPr>
        <p:spPr>
          <a:xfrm>
            <a:off x="548640" y="2194560"/>
            <a:ext cx="3392424" cy="2743200"/>
          </a:xfrm>
          <a:prstGeom prst="roundRect">
            <a:avLst>
              <a:gd name="adj" fmla="val 3333"/>
            </a:avLst>
          </a:prstGeom>
          <a:solidFill>
            <a:srgbClr val="F2F5F7"/>
          </a:solidFill>
          <a:ln w="12700">
            <a:solidFill>
              <a:srgbClr val="D7DEE5"/>
            </a:solidFill>
            <a:prstDash val="solid"/>
          </a:ln>
        </p:spPr>
      </p:sp>
      <p:sp>
        <p:nvSpPr>
          <p:cNvPr id="8" name="Text 6"/>
          <p:cNvSpPr/>
          <p:nvPr/>
        </p:nvSpPr>
        <p:spPr>
          <a:xfrm>
            <a:off x="685800" y="2697480"/>
            <a:ext cx="3118104" cy="1005840"/>
          </a:xfrm>
          <a:prstGeom prst="rect">
            <a:avLst/>
          </a:prstGeom>
          <a:noFill/>
          <a:ln/>
        </p:spPr>
        <p:txBody>
          <a:bodyPr wrap="square" lIns="0" tIns="0" rIns="0" bIns="0" rtlCol="0" anchor="ctr"/>
          <a:lstStyle/>
          <a:p>
            <a:pPr algn="ctr" indent="0" marL="0">
              <a:buNone/>
            </a:pPr>
            <a:r>
              <a:rPr lang="en-US" sz="3400" b="1" dirty="0">
                <a:solidFill>
                  <a:srgbClr val="1C7293"/>
                </a:solidFill>
                <a:latin typeface="Cambria" pitchFamily="34" charset="0"/>
                <a:ea typeface="Cambria" pitchFamily="34" charset="-122"/>
                <a:cs typeface="Cambria" pitchFamily="34" charset="-120"/>
              </a:rPr>
              <a:t>~$1.5/kbp</a:t>
            </a:r>
            <a:endParaRPr lang="en-US" sz="3400" dirty="0"/>
          </a:p>
        </p:txBody>
      </p:sp>
      <p:sp>
        <p:nvSpPr>
          <p:cNvPr id="9" name="Text 7"/>
          <p:cNvSpPr/>
          <p:nvPr/>
        </p:nvSpPr>
        <p:spPr>
          <a:xfrm>
            <a:off x="777240" y="3794760"/>
            <a:ext cx="2935224" cy="914400"/>
          </a:xfrm>
          <a:prstGeom prst="rect">
            <a:avLst/>
          </a:prstGeom>
          <a:noFill/>
          <a:ln/>
        </p:spPr>
        <p:txBody>
          <a:bodyPr wrap="square" lIns="0" tIns="0" rIns="0" bIns="0" rtlCol="0" anchor="t"/>
          <a:lstStyle/>
          <a:p>
            <a:pPr algn="ctr" indent="0" marL="0">
              <a:buNone/>
            </a:pPr>
            <a:r>
              <a:rPr lang="en-US" sz="1400" dirty="0">
                <a:solidFill>
                  <a:srgbClr val="21303F"/>
                </a:solidFill>
                <a:latin typeface="Calibri" pitchFamily="34" charset="0"/>
                <a:ea typeface="Calibri" pitchFamily="34" charset="-122"/>
                <a:cs typeface="Calibri" pitchFamily="34" charset="-120"/>
              </a:rPr>
              <a:t>commercial oligo pools (nearly free)</a:t>
            </a:r>
            <a:endParaRPr lang="en-US" sz="1400" dirty="0"/>
          </a:p>
        </p:txBody>
      </p:sp>
      <p:sp>
        <p:nvSpPr>
          <p:cNvPr id="10" name="Shape 8"/>
          <p:cNvSpPr/>
          <p:nvPr/>
        </p:nvSpPr>
        <p:spPr>
          <a:xfrm>
            <a:off x="4398264" y="2194560"/>
            <a:ext cx="3392424" cy="2743200"/>
          </a:xfrm>
          <a:prstGeom prst="roundRect">
            <a:avLst>
              <a:gd name="adj" fmla="val 3333"/>
            </a:avLst>
          </a:prstGeom>
          <a:solidFill>
            <a:srgbClr val="F2F5F7"/>
          </a:solidFill>
          <a:ln w="12700">
            <a:solidFill>
              <a:srgbClr val="D7DEE5"/>
            </a:solidFill>
            <a:prstDash val="solid"/>
          </a:ln>
        </p:spPr>
      </p:sp>
      <p:sp>
        <p:nvSpPr>
          <p:cNvPr id="11" name="Text 9"/>
          <p:cNvSpPr/>
          <p:nvPr/>
        </p:nvSpPr>
        <p:spPr>
          <a:xfrm>
            <a:off x="4535424" y="2697480"/>
            <a:ext cx="3118104" cy="1005840"/>
          </a:xfrm>
          <a:prstGeom prst="rect">
            <a:avLst/>
          </a:prstGeom>
          <a:noFill/>
          <a:ln/>
        </p:spPr>
        <p:txBody>
          <a:bodyPr wrap="square" lIns="0" tIns="0" rIns="0" bIns="0" rtlCol="0" anchor="ctr"/>
          <a:lstStyle/>
          <a:p>
            <a:pPr algn="ctr" indent="0" marL="0">
              <a:buNone/>
            </a:pPr>
            <a:r>
              <a:rPr lang="en-US" sz="3400" b="1" dirty="0">
                <a:solidFill>
                  <a:srgbClr val="1C7293"/>
                </a:solidFill>
                <a:latin typeface="Cambria" pitchFamily="34" charset="0"/>
                <a:ea typeface="Cambria" pitchFamily="34" charset="-122"/>
                <a:cs typeface="Cambria" pitchFamily="34" charset="-120"/>
              </a:rPr>
              <a:t>~$125/kbp</a:t>
            </a:r>
            <a:endParaRPr lang="en-US" sz="3400" dirty="0"/>
          </a:p>
        </p:txBody>
      </p:sp>
      <p:sp>
        <p:nvSpPr>
          <p:cNvPr id="12" name="Text 10"/>
          <p:cNvSpPr/>
          <p:nvPr/>
        </p:nvSpPr>
        <p:spPr>
          <a:xfrm>
            <a:off x="4626864" y="3794760"/>
            <a:ext cx="2935224" cy="914400"/>
          </a:xfrm>
          <a:prstGeom prst="rect">
            <a:avLst/>
          </a:prstGeom>
          <a:noFill/>
          <a:ln/>
        </p:spPr>
        <p:txBody>
          <a:bodyPr wrap="square" lIns="0" tIns="0" rIns="0" bIns="0" rtlCol="0" anchor="t"/>
          <a:lstStyle/>
          <a:p>
            <a:pPr algn="ctr" indent="0" marL="0">
              <a:buNone/>
            </a:pPr>
            <a:r>
              <a:rPr lang="en-US" sz="1400" dirty="0">
                <a:solidFill>
                  <a:srgbClr val="21303F"/>
                </a:solidFill>
                <a:latin typeface="Calibri" pitchFamily="34" charset="0"/>
                <a:ea typeface="Calibri" pitchFamily="34" charset="-122"/>
                <a:cs typeface="Calibri" pitchFamily="34" charset="-120"/>
              </a:rPr>
              <a:t>clonal, sequence-perfect DNA</a:t>
            </a:r>
            <a:endParaRPr lang="en-US" sz="1400" dirty="0"/>
          </a:p>
        </p:txBody>
      </p:sp>
      <p:sp>
        <p:nvSpPr>
          <p:cNvPr id="13" name="Shape 11"/>
          <p:cNvSpPr/>
          <p:nvPr/>
        </p:nvSpPr>
        <p:spPr>
          <a:xfrm>
            <a:off x="8247888" y="2194560"/>
            <a:ext cx="3392424" cy="2743200"/>
          </a:xfrm>
          <a:prstGeom prst="roundRect">
            <a:avLst>
              <a:gd name="adj" fmla="val 3333"/>
            </a:avLst>
          </a:prstGeom>
          <a:solidFill>
            <a:srgbClr val="F2F5F7"/>
          </a:solidFill>
          <a:ln w="12700">
            <a:solidFill>
              <a:srgbClr val="D7DEE5"/>
            </a:solidFill>
            <a:prstDash val="solid"/>
          </a:ln>
        </p:spPr>
      </p:sp>
      <p:sp>
        <p:nvSpPr>
          <p:cNvPr id="14" name="Text 12"/>
          <p:cNvSpPr/>
          <p:nvPr/>
        </p:nvSpPr>
        <p:spPr>
          <a:xfrm>
            <a:off x="8385048" y="2697480"/>
            <a:ext cx="3118104" cy="1005840"/>
          </a:xfrm>
          <a:prstGeom prst="rect">
            <a:avLst/>
          </a:prstGeom>
          <a:noFill/>
          <a:ln/>
        </p:spPr>
        <p:txBody>
          <a:bodyPr wrap="square" lIns="0" tIns="0" rIns="0" bIns="0" rtlCol="0" anchor="ctr"/>
          <a:lstStyle/>
          <a:p>
            <a:pPr algn="ctr" indent="0" marL="0">
              <a:buNone/>
            </a:pPr>
            <a:r>
              <a:rPr lang="en-US" sz="4600" b="1" dirty="0">
                <a:solidFill>
                  <a:srgbClr val="1C7293"/>
                </a:solidFill>
                <a:latin typeface="Cambria" pitchFamily="34" charset="0"/>
                <a:ea typeface="Cambria" pitchFamily="34" charset="-122"/>
                <a:cs typeface="Cambria" pitchFamily="34" charset="-120"/>
              </a:rPr>
              <a:t>~$6/kbp</a:t>
            </a:r>
            <a:endParaRPr lang="en-US" sz="4600" dirty="0"/>
          </a:p>
        </p:txBody>
      </p:sp>
      <p:sp>
        <p:nvSpPr>
          <p:cNvPr id="15" name="Text 13"/>
          <p:cNvSpPr/>
          <p:nvPr/>
        </p:nvSpPr>
        <p:spPr>
          <a:xfrm>
            <a:off x="8476488" y="3794760"/>
            <a:ext cx="2935224" cy="914400"/>
          </a:xfrm>
          <a:prstGeom prst="rect">
            <a:avLst/>
          </a:prstGeom>
          <a:noFill/>
          <a:ln/>
        </p:spPr>
        <p:txBody>
          <a:bodyPr wrap="square" lIns="0" tIns="0" rIns="0" bIns="0" rtlCol="0" anchor="t"/>
          <a:lstStyle/>
          <a:p>
            <a:pPr algn="ctr" indent="0" marL="0">
              <a:buNone/>
            </a:pPr>
            <a:r>
              <a:rPr lang="en-US" sz="1400" dirty="0">
                <a:solidFill>
                  <a:srgbClr val="21303F"/>
                </a:solidFill>
                <a:latin typeface="Calibri" pitchFamily="34" charset="0"/>
                <a:ea typeface="Calibri" pitchFamily="34" charset="-122"/>
                <a:cs typeface="Calibri" pitchFamily="34" charset="-120"/>
              </a:rPr>
              <a:t>assembly + validation done in-lab (Gandall)</a:t>
            </a:r>
            <a:endParaRPr lang="en-US" sz="1400" dirty="0"/>
          </a:p>
        </p:txBody>
      </p:sp>
      <p:sp>
        <p:nvSpPr>
          <p:cNvPr id="16" name="Text 14"/>
          <p:cNvSpPr/>
          <p:nvPr/>
        </p:nvSpPr>
        <p:spPr>
          <a:xfrm>
            <a:off x="548640" y="5394960"/>
            <a:ext cx="11064240" cy="548640"/>
          </a:xfrm>
          <a:prstGeom prst="rect">
            <a:avLst/>
          </a:prstGeom>
          <a:noFill/>
          <a:ln/>
        </p:spPr>
        <p:txBody>
          <a:bodyPr wrap="square" lIns="0" tIns="0" rIns="0" bIns="0"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The ~80× markup is know-how, not a hard cost floor — which reframes the residual gap as expertise-gated.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43D"/>
        </a:solidFill>
      </p:bgPr>
    </p:bg>
    <p:spTree>
      <p:nvGrpSpPr>
        <p:cNvPr id="1" name=""/>
        <p:cNvGrpSpPr/>
        <p:nvPr/>
      </p:nvGrpSpPr>
      <p:grpSpPr>
        <a:xfrm>
          <a:off x="0" y="0"/>
          <a:ext cx="0" cy="0"/>
          <a:chOff x="0" y="0"/>
          <a:chExt cx="0" cy="0"/>
        </a:xfrm>
      </p:grpSpPr>
      <p:sp>
        <p:nvSpPr>
          <p:cNvPr id="2" name="Text 0"/>
          <p:cNvSpPr/>
          <p:nvPr/>
        </p:nvSpPr>
        <p:spPr>
          <a:xfrm>
            <a:off x="822960" y="2651760"/>
            <a:ext cx="10058400" cy="457200"/>
          </a:xfrm>
          <a:prstGeom prst="rect">
            <a:avLst/>
          </a:prstGeom>
          <a:noFill/>
          <a:ln/>
        </p:spPr>
        <p:txBody>
          <a:bodyPr wrap="square" lIns="0" tIns="0" rIns="0" bIns="0" rtlCol="0" anchor="ctr"/>
          <a:lstStyle/>
          <a:p>
            <a:pPr indent="0" marL="0">
              <a:buNone/>
            </a:pPr>
            <a:r>
              <a:rPr lang="en-US" sz="1600" spc="200" kern="0" dirty="0">
                <a:solidFill>
                  <a:srgbClr val="2A9D8F"/>
                </a:solidFill>
                <a:latin typeface="Calibri" pitchFamily="34" charset="0"/>
                <a:ea typeface="Calibri" pitchFamily="34" charset="-122"/>
                <a:cs typeface="Calibri" pitchFamily="34" charset="-120"/>
              </a:rPr>
              <a:t>Workstream 3</a:t>
            </a:r>
            <a:endParaRPr lang="en-US" sz="1600" dirty="0"/>
          </a:p>
        </p:txBody>
      </p:sp>
      <p:sp>
        <p:nvSpPr>
          <p:cNvPr id="3" name="Text 1"/>
          <p:cNvSpPr/>
          <p:nvPr/>
        </p:nvSpPr>
        <p:spPr>
          <a:xfrm>
            <a:off x="822960" y="3108960"/>
            <a:ext cx="10515600" cy="12801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Control robustness</a:t>
            </a:r>
            <a:endParaRPr lang="en-US" sz="3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64592" cy="164592"/>
          </a:xfrm>
          <a:prstGeom prst="rect">
            <a:avLst/>
          </a:prstGeom>
          <a:solidFill>
            <a:srgbClr val="1C7293"/>
          </a:solidFill>
          <a:ln/>
        </p:spPr>
      </p:sp>
      <p:sp>
        <p:nvSpPr>
          <p:cNvPr id="3" name="Text 1"/>
          <p:cNvSpPr/>
          <p:nvPr/>
        </p:nvSpPr>
        <p:spPr>
          <a:xfrm>
            <a:off x="777240" y="365760"/>
            <a:ext cx="10881360" cy="640080"/>
          </a:xfrm>
          <a:prstGeom prst="rect">
            <a:avLst/>
          </a:prstGeom>
          <a:noFill/>
          <a:ln/>
        </p:spPr>
        <p:txBody>
          <a:bodyPr wrap="square" lIns="0" tIns="0" rIns="0" bIns="0" rtlCol="0" anchor="ctr"/>
          <a:lstStyle/>
          <a:p>
            <a:pPr indent="0" marL="0">
              <a:buNone/>
            </a:pPr>
            <a:r>
              <a:rPr lang="en-US" sz="3000" b="1" dirty="0">
                <a:solidFill>
                  <a:srgbClr val="14243D"/>
                </a:solidFill>
                <a:latin typeface="Cambria" pitchFamily="34" charset="0"/>
                <a:ea typeface="Cambria" pitchFamily="34" charset="-122"/>
                <a:cs typeface="Cambria" pitchFamily="34" charset="-120"/>
              </a:rPr>
              <a:t>What holds, and what doesn't</a:t>
            </a:r>
            <a:endParaRPr lang="en-US" sz="3000" dirty="0"/>
          </a:p>
        </p:txBody>
      </p:sp>
      <p:sp>
        <p:nvSpPr>
          <p:cNvPr id="4" name="Text 2"/>
          <p:cNvSpPr/>
          <p:nvPr/>
        </p:nvSpPr>
        <p:spPr>
          <a:xfrm>
            <a:off x="777240" y="1024128"/>
            <a:ext cx="10698480" cy="45720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R0 is fragile across every lever; R1 is durable — but only for regulated commercial devices.</a:t>
            </a:r>
            <a:endParaRPr lang="en-US" sz="1500" dirty="0"/>
          </a:p>
        </p:txBody>
      </p:sp>
      <p:sp>
        <p:nvSpPr>
          <p:cNvPr id="5" name="Text 3"/>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DNA synthesis screening under device proliferation</a:t>
            </a:r>
            <a:endParaRPr lang="en-US" sz="900" dirty="0"/>
          </a:p>
        </p:txBody>
      </p:sp>
      <p:sp>
        <p:nvSpPr>
          <p:cNvPr id="6" name="Text 4"/>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pic>
        <p:nvPicPr>
          <p:cNvPr id="7" name="Image 0" descr="figs/fig2_6_ladder.png">    </p:cNvPr>
          <p:cNvPicPr>
            <a:picLocks noChangeAspect="1"/>
          </p:cNvPicPr>
          <p:nvPr/>
        </p:nvPicPr>
        <p:blipFill>
          <a:blip r:embed="rId1"/>
          <a:srcRect l="0" r="0" t="0" b="0"/>
          <a:stretch/>
        </p:blipFill>
        <p:spPr>
          <a:xfrm>
            <a:off x="822960" y="1600200"/>
            <a:ext cx="10543032" cy="4526280"/>
          </a:xfrm>
          <a:prstGeom prst="rect">
            <a:avLst/>
          </a:prstGeom>
        </p:spPr>
      </p:pic>
      <p:sp>
        <p:nvSpPr>
          <p:cNvPr id="8" name="Text 5"/>
          <p:cNvSpPr/>
          <p:nvPr/>
        </p:nvSpPr>
        <p:spPr>
          <a:xfrm>
            <a:off x="822960" y="6144768"/>
            <a:ext cx="10515600" cy="274320"/>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Control durability, reconciled into one tiering</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64592" cy="164592"/>
          </a:xfrm>
          <a:prstGeom prst="rect">
            <a:avLst/>
          </a:prstGeom>
          <a:solidFill>
            <a:srgbClr val="1C7293"/>
          </a:solidFill>
          <a:ln/>
        </p:spPr>
      </p:sp>
      <p:sp>
        <p:nvSpPr>
          <p:cNvPr id="3" name="Text 1"/>
          <p:cNvSpPr/>
          <p:nvPr/>
        </p:nvSpPr>
        <p:spPr>
          <a:xfrm>
            <a:off x="777240" y="365760"/>
            <a:ext cx="10881360" cy="640080"/>
          </a:xfrm>
          <a:prstGeom prst="rect">
            <a:avLst/>
          </a:prstGeom>
          <a:noFill/>
          <a:ln/>
        </p:spPr>
        <p:txBody>
          <a:bodyPr wrap="square" lIns="0" tIns="0" rIns="0" bIns="0" rtlCol="0" anchor="ctr"/>
          <a:lstStyle/>
          <a:p>
            <a:pPr indent="0" marL="0">
              <a:buNone/>
            </a:pPr>
            <a:r>
              <a:rPr lang="en-US" sz="3000" b="1" dirty="0">
                <a:solidFill>
                  <a:srgbClr val="14243D"/>
                </a:solidFill>
                <a:latin typeface="Cambria" pitchFamily="34" charset="0"/>
                <a:ea typeface="Cambria" pitchFamily="34" charset="-122"/>
                <a:cs typeface="Cambria" pitchFamily="34" charset="-120"/>
              </a:rPr>
              <a:t>Supply-chain restriction is not durable</a:t>
            </a:r>
            <a:endParaRPr lang="en-US" sz="3000" dirty="0"/>
          </a:p>
        </p:txBody>
      </p:sp>
      <p:sp>
        <p:nvSpPr>
          <p:cNvPr id="4" name="Text 2"/>
          <p:cNvSpPr/>
          <p:nvPr/>
        </p:nvSpPr>
        <p:spPr>
          <a:xfrm>
            <a:off x="777240" y="1024128"/>
            <a:ext cx="10698480" cy="45720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Inputs are commodity or substitutable — a HIGH-confidence finding that survives worst-case.</a:t>
            </a:r>
            <a:endParaRPr lang="en-US" sz="1500" dirty="0"/>
          </a:p>
        </p:txBody>
      </p:sp>
      <p:sp>
        <p:nvSpPr>
          <p:cNvPr id="5" name="Text 3"/>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DNA synthesis screening under device proliferation</a:t>
            </a:r>
            <a:endParaRPr lang="en-US" sz="900" dirty="0"/>
          </a:p>
        </p:txBody>
      </p:sp>
      <p:sp>
        <p:nvSpPr>
          <p:cNvPr id="6" name="Text 4"/>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pic>
        <p:nvPicPr>
          <p:cNvPr id="7" name="Image 0" descr="figs/fig2_3_sensitivity.png">    </p:cNvPr>
          <p:cNvPicPr>
            <a:picLocks noChangeAspect="1"/>
          </p:cNvPicPr>
          <p:nvPr/>
        </p:nvPicPr>
        <p:blipFill>
          <a:blip r:embed="rId1"/>
          <a:srcRect l="0" r="0" t="0" b="0"/>
          <a:stretch/>
        </p:blipFill>
        <p:spPr>
          <a:xfrm>
            <a:off x="822960" y="1600200"/>
            <a:ext cx="10543032" cy="4526280"/>
          </a:xfrm>
          <a:prstGeom prst="rect">
            <a:avLst/>
          </a:prstGeom>
        </p:spPr>
      </p:pic>
      <p:sp>
        <p:nvSpPr>
          <p:cNvPr id="8" name="Text 5"/>
          <p:cNvSpPr/>
          <p:nvPr/>
        </p:nvSpPr>
        <p:spPr>
          <a:xfrm>
            <a:off x="822960" y="6144768"/>
            <a:ext cx="10515600" cy="274320"/>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Which assumptions could change the conclusions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64592" cy="164592"/>
          </a:xfrm>
          <a:prstGeom prst="rect">
            <a:avLst/>
          </a:prstGeom>
          <a:solidFill>
            <a:srgbClr val="1C7293"/>
          </a:solidFill>
          <a:ln/>
        </p:spPr>
      </p:sp>
      <p:sp>
        <p:nvSpPr>
          <p:cNvPr id="3" name="Text 1"/>
          <p:cNvSpPr/>
          <p:nvPr/>
        </p:nvSpPr>
        <p:spPr>
          <a:xfrm>
            <a:off x="777240" y="365760"/>
            <a:ext cx="10881360" cy="640080"/>
          </a:xfrm>
          <a:prstGeom prst="rect">
            <a:avLst/>
          </a:prstGeom>
          <a:noFill/>
          <a:ln/>
        </p:spPr>
        <p:txBody>
          <a:bodyPr wrap="square" lIns="0" tIns="0" rIns="0" bIns="0" rtlCol="0" anchor="ctr"/>
          <a:lstStyle/>
          <a:p>
            <a:pPr indent="0" marL="0">
              <a:buNone/>
            </a:pPr>
            <a:r>
              <a:rPr lang="en-US" sz="3000" b="1" dirty="0">
                <a:solidFill>
                  <a:srgbClr val="14243D"/>
                </a:solidFill>
                <a:latin typeface="Cambria" pitchFamily="34" charset="0"/>
                <a:ea typeface="Cambria" pitchFamily="34" charset="-122"/>
                <a:cs typeface="Cambria" pitchFamily="34" charset="-120"/>
              </a:rPr>
              <a:t>Reagents are the wrong control point</a:t>
            </a:r>
            <a:endParaRPr lang="en-US" sz="3000" dirty="0"/>
          </a:p>
        </p:txBody>
      </p:sp>
      <p:sp>
        <p:nvSpPr>
          <p:cNvPr id="4" name="Text 2"/>
          <p:cNvSpPr/>
          <p:nvPr/>
        </p:nvSpPr>
        <p:spPr>
          <a:xfrm>
            <a:off x="777240" y="1024128"/>
            <a:ext cx="10698480" cy="45720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Phosphoramidites: commodity, substitutable, swamped by legitimate demand — control belongs at sequence + device.</a:t>
            </a:r>
            <a:endParaRPr lang="en-US" sz="1500" dirty="0"/>
          </a:p>
        </p:txBody>
      </p:sp>
      <p:sp>
        <p:nvSpPr>
          <p:cNvPr id="5" name="Text 3"/>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DNA synthesis screening under device proliferation</a:t>
            </a:r>
            <a:endParaRPr lang="en-US" sz="900" dirty="0"/>
          </a:p>
        </p:txBody>
      </p:sp>
      <p:sp>
        <p:nvSpPr>
          <p:cNvPr id="6" name="Text 4"/>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pic>
        <p:nvPicPr>
          <p:cNvPr id="7" name="Image 0" descr="supply.png">    </p:cNvPr>
          <p:cNvPicPr>
            <a:picLocks noChangeAspect="1"/>
          </p:cNvPicPr>
          <p:nvPr/>
        </p:nvPicPr>
        <p:blipFill>
          <a:blip r:embed="rId1"/>
          <a:srcRect l="0" r="0" t="0" b="0"/>
          <a:stretch/>
        </p:blipFill>
        <p:spPr>
          <a:xfrm>
            <a:off x="822960" y="1600200"/>
            <a:ext cx="10543032" cy="4526280"/>
          </a:xfrm>
          <a:prstGeom prst="rect">
            <a:avLst/>
          </a:prstGeom>
        </p:spPr>
      </p:pic>
      <p:sp>
        <p:nvSpPr>
          <p:cNvPr id="8" name="Text 5"/>
          <p:cNvSpPr/>
          <p:nvPr/>
        </p:nvSpPr>
        <p:spPr>
          <a:xfrm>
            <a:off x="822960" y="6144768"/>
            <a:ext cx="10515600" cy="274320"/>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Two lenses: low as a misuse lever, medium only as a supply-resilience issue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64592" cy="164592"/>
          </a:xfrm>
          <a:prstGeom prst="rect">
            <a:avLst/>
          </a:prstGeom>
          <a:solidFill>
            <a:srgbClr val="1C7293"/>
          </a:solidFill>
          <a:ln/>
        </p:spPr>
      </p:sp>
      <p:sp>
        <p:nvSpPr>
          <p:cNvPr id="3" name="Text 1"/>
          <p:cNvSpPr/>
          <p:nvPr/>
        </p:nvSpPr>
        <p:spPr>
          <a:xfrm>
            <a:off x="777240" y="365760"/>
            <a:ext cx="10881360" cy="640080"/>
          </a:xfrm>
          <a:prstGeom prst="rect">
            <a:avLst/>
          </a:prstGeom>
          <a:noFill/>
          <a:ln/>
        </p:spPr>
        <p:txBody>
          <a:bodyPr wrap="square" lIns="0" tIns="0" rIns="0" bIns="0" rtlCol="0" anchor="ctr"/>
          <a:lstStyle/>
          <a:p>
            <a:pPr indent="0" marL="0">
              <a:buNone/>
            </a:pPr>
            <a:r>
              <a:rPr lang="en-US" sz="3000" b="1" dirty="0">
                <a:solidFill>
                  <a:srgbClr val="14243D"/>
                </a:solidFill>
                <a:latin typeface="Cambria" pitchFamily="34" charset="0"/>
                <a:ea typeface="Cambria" pitchFamily="34" charset="-122"/>
                <a:cs typeface="Cambria" pitchFamily="34" charset="-120"/>
              </a:rPr>
              <a:t>A US mandate reaches under a quarter</a:t>
            </a:r>
            <a:endParaRPr lang="en-US" sz="3000" dirty="0"/>
          </a:p>
        </p:txBody>
      </p:sp>
      <p:sp>
        <p:nvSpPr>
          <p:cNvPr id="4" name="Text 2"/>
          <p:cNvSpPr/>
          <p:nvPr/>
        </p:nvSpPr>
        <p:spPr>
          <a:xfrm>
            <a:off x="777240" y="1024128"/>
            <a:ext cx="10698480" cy="45720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The newest, most capable capacity is concentrating exactly where a US rule cannot reach.</a:t>
            </a:r>
            <a:endParaRPr lang="en-US" sz="1500" dirty="0"/>
          </a:p>
        </p:txBody>
      </p:sp>
      <p:sp>
        <p:nvSpPr>
          <p:cNvPr id="5" name="Text 3"/>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DNA synthesis screening under device proliferation</a:t>
            </a:r>
            <a:endParaRPr lang="en-US" sz="900" dirty="0"/>
          </a:p>
        </p:txBody>
      </p:sp>
      <p:sp>
        <p:nvSpPr>
          <p:cNvPr id="6" name="Text 4"/>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
        <p:nvSpPr>
          <p:cNvPr id="7" name="Shape 5"/>
          <p:cNvSpPr/>
          <p:nvPr/>
        </p:nvSpPr>
        <p:spPr>
          <a:xfrm>
            <a:off x="548640" y="2194560"/>
            <a:ext cx="3392424" cy="2743200"/>
          </a:xfrm>
          <a:prstGeom prst="roundRect">
            <a:avLst>
              <a:gd name="adj" fmla="val 3333"/>
            </a:avLst>
          </a:prstGeom>
          <a:solidFill>
            <a:srgbClr val="F2F5F7"/>
          </a:solidFill>
          <a:ln w="12700">
            <a:solidFill>
              <a:srgbClr val="D7DEE5"/>
            </a:solidFill>
            <a:prstDash val="solid"/>
          </a:ln>
        </p:spPr>
      </p:sp>
      <p:sp>
        <p:nvSpPr>
          <p:cNvPr id="8" name="Text 6"/>
          <p:cNvSpPr/>
          <p:nvPr/>
        </p:nvSpPr>
        <p:spPr>
          <a:xfrm>
            <a:off x="685800" y="2697480"/>
            <a:ext cx="3118104" cy="1005840"/>
          </a:xfrm>
          <a:prstGeom prst="rect">
            <a:avLst/>
          </a:prstGeom>
          <a:noFill/>
          <a:ln/>
        </p:spPr>
        <p:txBody>
          <a:bodyPr wrap="square" lIns="0" tIns="0" rIns="0" bIns="0" rtlCol="0" anchor="ctr"/>
          <a:lstStyle/>
          <a:p>
            <a:pPr algn="ctr" indent="0" marL="0">
              <a:buNone/>
            </a:pPr>
            <a:r>
              <a:rPr lang="en-US" sz="4600" b="1" dirty="0">
                <a:solidFill>
                  <a:srgbClr val="1C7293"/>
                </a:solidFill>
                <a:latin typeface="Cambria" pitchFamily="34" charset="0"/>
                <a:ea typeface="Cambria" pitchFamily="34" charset="-122"/>
                <a:cs typeface="Cambria" pitchFamily="34" charset="-120"/>
              </a:rPr>
              <a:t>8 / 34</a:t>
            </a:r>
            <a:endParaRPr lang="en-US" sz="4600" dirty="0"/>
          </a:p>
        </p:txBody>
      </p:sp>
      <p:sp>
        <p:nvSpPr>
          <p:cNvPr id="9" name="Text 7"/>
          <p:cNvSpPr/>
          <p:nvPr/>
        </p:nvSpPr>
        <p:spPr>
          <a:xfrm>
            <a:off x="777240" y="3794760"/>
            <a:ext cx="2935224" cy="914400"/>
          </a:xfrm>
          <a:prstGeom prst="rect">
            <a:avLst/>
          </a:prstGeom>
          <a:noFill/>
          <a:ln/>
        </p:spPr>
        <p:txBody>
          <a:bodyPr wrap="square" lIns="0" tIns="0" rIns="0" bIns="0" rtlCol="0" anchor="t"/>
          <a:lstStyle/>
          <a:p>
            <a:pPr algn="ctr" indent="0" marL="0">
              <a:buNone/>
            </a:pPr>
            <a:r>
              <a:rPr lang="en-US" sz="1400" dirty="0">
                <a:solidFill>
                  <a:srgbClr val="21303F"/>
                </a:solidFill>
                <a:latin typeface="Calibri" pitchFamily="34" charset="0"/>
                <a:ea typeface="Calibri" pitchFamily="34" charset="-122"/>
                <a:cs typeface="Calibri" pitchFamily="34" charset="-120"/>
              </a:rPr>
              <a:t>benchtop manufacturers US-bound by a mandate</a:t>
            </a:r>
            <a:endParaRPr lang="en-US" sz="1400" dirty="0"/>
          </a:p>
        </p:txBody>
      </p:sp>
      <p:sp>
        <p:nvSpPr>
          <p:cNvPr id="10" name="Shape 8"/>
          <p:cNvSpPr/>
          <p:nvPr/>
        </p:nvSpPr>
        <p:spPr>
          <a:xfrm>
            <a:off x="4398264" y="2194560"/>
            <a:ext cx="3392424" cy="2743200"/>
          </a:xfrm>
          <a:prstGeom prst="roundRect">
            <a:avLst>
              <a:gd name="adj" fmla="val 3333"/>
            </a:avLst>
          </a:prstGeom>
          <a:solidFill>
            <a:srgbClr val="F2F5F7"/>
          </a:solidFill>
          <a:ln w="12700">
            <a:solidFill>
              <a:srgbClr val="D7DEE5"/>
            </a:solidFill>
            <a:prstDash val="solid"/>
          </a:ln>
        </p:spPr>
      </p:sp>
      <p:sp>
        <p:nvSpPr>
          <p:cNvPr id="11" name="Text 9"/>
          <p:cNvSpPr/>
          <p:nvPr/>
        </p:nvSpPr>
        <p:spPr>
          <a:xfrm>
            <a:off x="4535424" y="2697480"/>
            <a:ext cx="3118104" cy="1005840"/>
          </a:xfrm>
          <a:prstGeom prst="rect">
            <a:avLst/>
          </a:prstGeom>
          <a:noFill/>
          <a:ln/>
        </p:spPr>
        <p:txBody>
          <a:bodyPr wrap="square" lIns="0" tIns="0" rIns="0" bIns="0" rtlCol="0" anchor="ctr"/>
          <a:lstStyle/>
          <a:p>
            <a:pPr algn="ctr" indent="0" marL="0">
              <a:buNone/>
            </a:pPr>
            <a:r>
              <a:rPr lang="en-US" sz="4600" b="1" dirty="0">
                <a:solidFill>
                  <a:srgbClr val="1C7293"/>
                </a:solidFill>
                <a:latin typeface="Cambria" pitchFamily="34" charset="0"/>
                <a:ea typeface="Cambria" pitchFamily="34" charset="-122"/>
                <a:cs typeface="Cambria" pitchFamily="34" charset="-120"/>
              </a:rPr>
              <a:t>14</a:t>
            </a:r>
            <a:endParaRPr lang="en-US" sz="4600" dirty="0"/>
          </a:p>
        </p:txBody>
      </p:sp>
      <p:sp>
        <p:nvSpPr>
          <p:cNvPr id="12" name="Text 10"/>
          <p:cNvSpPr/>
          <p:nvPr/>
        </p:nvSpPr>
        <p:spPr>
          <a:xfrm>
            <a:off x="4626864" y="3794760"/>
            <a:ext cx="2935224" cy="914400"/>
          </a:xfrm>
          <a:prstGeom prst="rect">
            <a:avLst/>
          </a:prstGeom>
          <a:noFill/>
          <a:ln/>
        </p:spPr>
        <p:txBody>
          <a:bodyPr wrap="square" lIns="0" tIns="0" rIns="0" bIns="0" rtlCol="0" anchor="t"/>
          <a:lstStyle/>
          <a:p>
            <a:pPr algn="ctr" indent="0" marL="0">
              <a:buNone/>
            </a:pPr>
            <a:r>
              <a:rPr lang="en-US" sz="1400" dirty="0">
                <a:solidFill>
                  <a:srgbClr val="21303F"/>
                </a:solidFill>
                <a:latin typeface="Calibri" pitchFamily="34" charset="0"/>
                <a:ea typeface="Calibri" pitchFamily="34" charset="-122"/>
                <a:cs typeface="Calibri" pitchFamily="34" charset="-120"/>
              </a:rPr>
              <a:t>outside US and allied reach</a:t>
            </a:r>
            <a:endParaRPr lang="en-US" sz="1400" dirty="0"/>
          </a:p>
        </p:txBody>
      </p:sp>
      <p:sp>
        <p:nvSpPr>
          <p:cNvPr id="13" name="Shape 11"/>
          <p:cNvSpPr/>
          <p:nvPr/>
        </p:nvSpPr>
        <p:spPr>
          <a:xfrm>
            <a:off x="8247888" y="2194560"/>
            <a:ext cx="3392424" cy="2743200"/>
          </a:xfrm>
          <a:prstGeom prst="roundRect">
            <a:avLst>
              <a:gd name="adj" fmla="val 3333"/>
            </a:avLst>
          </a:prstGeom>
          <a:solidFill>
            <a:srgbClr val="F2F5F7"/>
          </a:solidFill>
          <a:ln w="12700">
            <a:solidFill>
              <a:srgbClr val="D7DEE5"/>
            </a:solidFill>
            <a:prstDash val="solid"/>
          </a:ln>
        </p:spPr>
      </p:sp>
      <p:sp>
        <p:nvSpPr>
          <p:cNvPr id="14" name="Text 12"/>
          <p:cNvSpPr/>
          <p:nvPr/>
        </p:nvSpPr>
        <p:spPr>
          <a:xfrm>
            <a:off x="8385048" y="2697480"/>
            <a:ext cx="3118104" cy="1005840"/>
          </a:xfrm>
          <a:prstGeom prst="rect">
            <a:avLst/>
          </a:prstGeom>
          <a:noFill/>
          <a:ln/>
        </p:spPr>
        <p:txBody>
          <a:bodyPr wrap="square" lIns="0" tIns="0" rIns="0" bIns="0" rtlCol="0" anchor="ctr"/>
          <a:lstStyle/>
          <a:p>
            <a:pPr algn="ctr" indent="0" marL="0">
              <a:buNone/>
            </a:pPr>
            <a:r>
              <a:rPr lang="en-US" sz="4600" b="1" dirty="0">
                <a:solidFill>
                  <a:srgbClr val="1C7293"/>
                </a:solidFill>
                <a:latin typeface="Cambria" pitchFamily="34" charset="0"/>
                <a:ea typeface="Cambria" pitchFamily="34" charset="-122"/>
                <a:cs typeface="Cambria" pitchFamily="34" charset="-120"/>
              </a:rPr>
              <a:t>5 / 9</a:t>
            </a:r>
            <a:endParaRPr lang="en-US" sz="4600" dirty="0"/>
          </a:p>
        </p:txBody>
      </p:sp>
      <p:sp>
        <p:nvSpPr>
          <p:cNvPr id="15" name="Text 13"/>
          <p:cNvSpPr/>
          <p:nvPr/>
        </p:nvSpPr>
        <p:spPr>
          <a:xfrm>
            <a:off x="8476488" y="3794760"/>
            <a:ext cx="2935224" cy="914400"/>
          </a:xfrm>
          <a:prstGeom prst="rect">
            <a:avLst/>
          </a:prstGeom>
          <a:noFill/>
          <a:ln/>
        </p:spPr>
        <p:txBody>
          <a:bodyPr wrap="square" lIns="0" tIns="0" rIns="0" bIns="0" rtlCol="0" anchor="t"/>
          <a:lstStyle/>
          <a:p>
            <a:pPr algn="ctr" indent="0" marL="0">
              <a:buNone/>
            </a:pPr>
            <a:r>
              <a:rPr lang="en-US" sz="1400" dirty="0">
                <a:solidFill>
                  <a:srgbClr val="21303F"/>
                </a:solidFill>
                <a:latin typeface="Calibri" pitchFamily="34" charset="0"/>
                <a:ea typeface="Calibri" pitchFamily="34" charset="-122"/>
                <a:cs typeface="Calibri" pitchFamily="34" charset="-120"/>
              </a:rPr>
              <a:t>firms founded since 2019 that sit outside reach</a:t>
            </a:r>
            <a:endParaRPr lang="en-US" sz="1400" dirty="0"/>
          </a:p>
        </p:txBody>
      </p:sp>
      <p:sp>
        <p:nvSpPr>
          <p:cNvPr id="16" name="Text 14"/>
          <p:cNvSpPr/>
          <p:nvPr/>
        </p:nvSpPr>
        <p:spPr>
          <a:xfrm>
            <a:off x="548640" y="5394960"/>
            <a:ext cx="11064240" cy="548640"/>
          </a:xfrm>
          <a:prstGeom prst="rect">
            <a:avLst/>
          </a:prstGeom>
          <a:noFill/>
          <a:ln/>
        </p:spPr>
        <p:txBody>
          <a:bodyPr wrap="square" lIns="0" tIns="0" rIns="0" bIns="0"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International harmonisation is therefore load-bearing — not an optional add-on.</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243D"/>
        </a:solidFill>
      </p:bgPr>
    </p:bg>
    <p:spTree>
      <p:nvGrpSpPr>
        <p:cNvPr id="1" name=""/>
        <p:cNvGrpSpPr/>
        <p:nvPr/>
      </p:nvGrpSpPr>
      <p:grpSpPr>
        <a:xfrm>
          <a:off x="0" y="0"/>
          <a:ext cx="0" cy="0"/>
          <a:chOff x="0" y="0"/>
          <a:chExt cx="0" cy="0"/>
        </a:xfrm>
      </p:grpSpPr>
      <p:sp>
        <p:nvSpPr>
          <p:cNvPr id="2" name="Text 0"/>
          <p:cNvSpPr/>
          <p:nvPr/>
        </p:nvSpPr>
        <p:spPr>
          <a:xfrm>
            <a:off x="822960" y="2651760"/>
            <a:ext cx="10058400" cy="457200"/>
          </a:xfrm>
          <a:prstGeom prst="rect">
            <a:avLst/>
          </a:prstGeom>
          <a:noFill/>
          <a:ln/>
        </p:spPr>
        <p:txBody>
          <a:bodyPr wrap="square" lIns="0" tIns="0" rIns="0" bIns="0" rtlCol="0" anchor="ctr"/>
          <a:lstStyle/>
          <a:p>
            <a:pPr indent="0" marL="0">
              <a:buNone/>
            </a:pPr>
            <a:r>
              <a:rPr lang="en-US" sz="1600" spc="200" kern="0" dirty="0">
                <a:solidFill>
                  <a:srgbClr val="2A9D8F"/>
                </a:solidFill>
                <a:latin typeface="Calibri" pitchFamily="34" charset="0"/>
                <a:ea typeface="Calibri" pitchFamily="34" charset="-122"/>
                <a:cs typeface="Calibri" pitchFamily="34" charset="-120"/>
              </a:rPr>
              <a:t>Workstream 4</a:t>
            </a:r>
            <a:endParaRPr lang="en-US" sz="1600" dirty="0"/>
          </a:p>
        </p:txBody>
      </p:sp>
      <p:sp>
        <p:nvSpPr>
          <p:cNvPr id="3" name="Text 1"/>
          <p:cNvSpPr/>
          <p:nvPr/>
        </p:nvSpPr>
        <p:spPr>
          <a:xfrm>
            <a:off x="822960" y="3108960"/>
            <a:ext cx="10515600" cy="12801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Forensic attribution</a:t>
            </a:r>
            <a:endParaRPr lang="en-US" sz="3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64592" cy="164592"/>
          </a:xfrm>
          <a:prstGeom prst="rect">
            <a:avLst/>
          </a:prstGeom>
          <a:solidFill>
            <a:srgbClr val="1C7293"/>
          </a:solidFill>
          <a:ln/>
        </p:spPr>
      </p:sp>
      <p:sp>
        <p:nvSpPr>
          <p:cNvPr id="3" name="Text 1"/>
          <p:cNvSpPr/>
          <p:nvPr/>
        </p:nvSpPr>
        <p:spPr>
          <a:xfrm>
            <a:off x="777240" y="365760"/>
            <a:ext cx="10881360" cy="640080"/>
          </a:xfrm>
          <a:prstGeom prst="rect">
            <a:avLst/>
          </a:prstGeom>
          <a:noFill/>
          <a:ln/>
        </p:spPr>
        <p:txBody>
          <a:bodyPr wrap="square" lIns="0" tIns="0" rIns="0" bIns="0" rtlCol="0" anchor="ctr"/>
          <a:lstStyle/>
          <a:p>
            <a:pPr indent="0" marL="0">
              <a:buNone/>
            </a:pPr>
            <a:r>
              <a:rPr lang="en-US" sz="3000" b="1" dirty="0">
                <a:solidFill>
                  <a:srgbClr val="14243D"/>
                </a:solidFill>
                <a:latin typeface="Cambria" pitchFamily="34" charset="0"/>
                <a:ea typeface="Cambria" pitchFamily="34" charset="-122"/>
                <a:cs typeface="Cambria" pitchFamily="34" charset="-120"/>
              </a:rPr>
              <a:t>Delay, detect, defend</a:t>
            </a:r>
            <a:endParaRPr lang="en-US" sz="3000" dirty="0"/>
          </a:p>
        </p:txBody>
      </p:sp>
      <p:sp>
        <p:nvSpPr>
          <p:cNvPr id="4" name="Text 2"/>
          <p:cNvSpPr/>
          <p:nvPr/>
        </p:nvSpPr>
        <p:spPr>
          <a:xfrm>
            <a:off x="777240" y="1024128"/>
            <a:ext cx="10698480" cy="45720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When prevention leaks, attribute the synthesis route from the error phenotype of the product.</a:t>
            </a:r>
            <a:endParaRPr lang="en-US" sz="1500" dirty="0"/>
          </a:p>
        </p:txBody>
      </p:sp>
      <p:sp>
        <p:nvSpPr>
          <p:cNvPr id="5" name="Text 3"/>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DNA synthesis screening under device proliferation</a:t>
            </a:r>
            <a:endParaRPr lang="en-US" sz="900" dirty="0"/>
          </a:p>
        </p:txBody>
      </p:sp>
      <p:sp>
        <p:nvSpPr>
          <p:cNvPr id="6" name="Text 4"/>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
        <p:nvSpPr>
          <p:cNvPr id="7" name="Text 5"/>
          <p:cNvSpPr/>
          <p:nvPr/>
        </p:nvSpPr>
        <p:spPr>
          <a:xfrm>
            <a:off x="777240" y="1828800"/>
            <a:ext cx="3977640" cy="4023360"/>
          </a:xfrm>
          <a:prstGeom prst="rect">
            <a:avLst/>
          </a:prstGeom>
          <a:noFill/>
          <a:ln/>
        </p:spPr>
        <p:txBody>
          <a:bodyPr wrap="square" rtlCol="0" anchor="t"/>
          <a:lstStyle/>
          <a:p>
            <a:pPr marL="342900" indent="-342900">
              <a:spcAft>
                <a:spcPts val="1000"/>
              </a:spcAft>
              <a:buSzPct val="100000"/>
              <a:buChar char="•"/>
            </a:pPr>
            <a:r>
              <a:rPr lang="en-US" sz="1500" dirty="0">
                <a:solidFill>
                  <a:srgbClr val="21303F"/>
                </a:solidFill>
                <a:latin typeface="Calibri" pitchFamily="34" charset="0"/>
                <a:ea typeface="Calibri" pitchFamily="34" charset="-122"/>
                <a:cs typeface="Calibri" pitchFamily="34" charset="-120"/>
              </a:rPr>
              <a:t>Class-level attribution, not device-level</a:t>
            </a:r>
            <a:endParaRPr lang="en-US" sz="1500" dirty="0"/>
          </a:p>
          <a:p>
            <a:pPr marL="342900" indent="-342900">
              <a:spcAft>
                <a:spcPts val="1000"/>
              </a:spcAft>
              <a:buSzPct val="100000"/>
              <a:buChar char="•"/>
            </a:pPr>
            <a:r>
              <a:rPr lang="en-US" sz="1500" dirty="0">
                <a:solidFill>
                  <a:srgbClr val="21303F"/>
                </a:solidFill>
                <a:latin typeface="Calibri" pitchFamily="34" charset="0"/>
                <a:ea typeface="Calibri" pitchFamily="34" charset="-122"/>
                <a:cs typeface="Calibri" pitchFamily="34" charset="-120"/>
              </a:rPr>
              <a:t>Exclusion is the strongest, most defensible output</a:t>
            </a:r>
            <a:endParaRPr lang="en-US" sz="1500" dirty="0"/>
          </a:p>
          <a:p>
            <a:pPr marL="342900" indent="-342900">
              <a:spcAft>
                <a:spcPts val="1000"/>
              </a:spcAft>
              <a:buSzPct val="100000"/>
              <a:buChar char="•"/>
            </a:pPr>
            <a:r>
              <a:rPr lang="en-US" sz="1500" dirty="0">
                <a:solidFill>
                  <a:srgbClr val="21303F"/>
                </a:solidFill>
                <a:latin typeface="Calibri" pitchFamily="34" charset="0"/>
                <a:ea typeface="Calibri" pitchFamily="34" charset="-122"/>
                <a:cs typeface="Calibri" pitchFamily="34" charset="-120"/>
              </a:rPr>
              <a:t>Grounded in the GEA literature (Alley, Crook)</a:t>
            </a:r>
            <a:endParaRPr lang="en-US" sz="1500" dirty="0"/>
          </a:p>
          <a:p>
            <a:pPr marL="342900" indent="-342900">
              <a:spcAft>
                <a:spcPts val="1000"/>
              </a:spcAft>
              <a:buSzPct val="100000"/>
              <a:buChar char="•"/>
            </a:pPr>
            <a:r>
              <a:rPr lang="en-US" sz="1500" dirty="0">
                <a:solidFill>
                  <a:srgbClr val="21303F"/>
                </a:solidFill>
                <a:latin typeface="Calibri" pitchFamily="34" charset="0"/>
                <a:ea typeface="Calibri" pitchFamily="34" charset="-122"/>
                <a:cs typeface="Calibri" pitchFamily="34" charset="-120"/>
              </a:rPr>
              <a:t>Consumes product-sequence data only — no synthesis</a:t>
            </a:r>
            <a:endParaRPr lang="en-US" sz="1500" dirty="0"/>
          </a:p>
        </p:txBody>
      </p:sp>
      <p:pic>
        <p:nvPicPr>
          <p:cNvPr id="8" name="Image 0" descr="figs4/fig4_3_tiers.png">    </p:cNvPr>
          <p:cNvPicPr>
            <a:picLocks noChangeAspect="1"/>
          </p:cNvPicPr>
          <p:nvPr/>
        </p:nvPicPr>
        <p:blipFill>
          <a:blip r:embed="rId1"/>
          <a:srcRect l="0" r="0" t="0" b="0"/>
          <a:stretch/>
        </p:blipFill>
        <p:spPr>
          <a:xfrm>
            <a:off x="5029200" y="1737360"/>
            <a:ext cx="6400800" cy="429768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64592" cy="164592"/>
          </a:xfrm>
          <a:prstGeom prst="rect">
            <a:avLst/>
          </a:prstGeom>
          <a:solidFill>
            <a:srgbClr val="1C7293"/>
          </a:solidFill>
          <a:ln/>
        </p:spPr>
      </p:sp>
      <p:sp>
        <p:nvSpPr>
          <p:cNvPr id="3" name="Text 1"/>
          <p:cNvSpPr/>
          <p:nvPr/>
        </p:nvSpPr>
        <p:spPr>
          <a:xfrm>
            <a:off x="777240" y="365760"/>
            <a:ext cx="10881360" cy="640080"/>
          </a:xfrm>
          <a:prstGeom prst="rect">
            <a:avLst/>
          </a:prstGeom>
          <a:noFill/>
          <a:ln/>
        </p:spPr>
        <p:txBody>
          <a:bodyPr wrap="square" lIns="0" tIns="0" rIns="0" bIns="0" rtlCol="0" anchor="ctr"/>
          <a:lstStyle/>
          <a:p>
            <a:pPr indent="0" marL="0">
              <a:buNone/>
            </a:pPr>
            <a:r>
              <a:rPr lang="en-US" sz="3000" b="1" dirty="0">
                <a:solidFill>
                  <a:srgbClr val="14243D"/>
                </a:solidFill>
                <a:latin typeface="Cambria" pitchFamily="34" charset="0"/>
                <a:ea typeface="Cambria" pitchFamily="34" charset="-122"/>
                <a:cs typeface="Cambria" pitchFamily="34" charset="-120"/>
              </a:rPr>
              <a:t>Four chemistries, four fingerprints</a:t>
            </a:r>
            <a:endParaRPr lang="en-US" sz="3000" dirty="0"/>
          </a:p>
        </p:txBody>
      </p:sp>
      <p:sp>
        <p:nvSpPr>
          <p:cNvPr id="4" name="Text 2"/>
          <p:cNvSpPr/>
          <p:nvPr/>
        </p:nvSpPr>
        <p:spPr>
          <a:xfrm>
            <a:off x="777240" y="1024128"/>
            <a:ext cx="10698480" cy="45720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Reproduced independently from deposited reads, each within ~±20% of the published signature.</a:t>
            </a:r>
            <a:endParaRPr lang="en-US" sz="1500" dirty="0"/>
          </a:p>
        </p:txBody>
      </p:sp>
      <p:sp>
        <p:nvSpPr>
          <p:cNvPr id="5" name="Text 3"/>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DNA synthesis screening under device proliferation</a:t>
            </a:r>
            <a:endParaRPr lang="en-US" sz="900" dirty="0"/>
          </a:p>
        </p:txBody>
      </p:sp>
      <p:sp>
        <p:nvSpPr>
          <p:cNvPr id="6" name="Text 4"/>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pic>
        <p:nvPicPr>
          <p:cNvPr id="7" name="Image 0" descr="figs4/fig4_5_phenotypes.png">    </p:cNvPr>
          <p:cNvPicPr>
            <a:picLocks noChangeAspect="1"/>
          </p:cNvPicPr>
          <p:nvPr/>
        </p:nvPicPr>
        <p:blipFill>
          <a:blip r:embed="rId1"/>
          <a:srcRect l="0" r="0" t="0" b="0"/>
          <a:stretch/>
        </p:blipFill>
        <p:spPr>
          <a:xfrm>
            <a:off x="822960" y="1600200"/>
            <a:ext cx="10543032" cy="4526280"/>
          </a:xfrm>
          <a:prstGeom prst="rect">
            <a:avLst/>
          </a:prstGeom>
        </p:spPr>
      </p:pic>
      <p:sp>
        <p:nvSpPr>
          <p:cNvPr id="8" name="Text 5"/>
          <p:cNvSpPr/>
          <p:nvPr/>
        </p:nvSpPr>
        <p:spPr>
          <a:xfrm>
            <a:off x="822960" y="6144768"/>
            <a:ext cx="10515600" cy="274320"/>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Column · photolithographic · electrochemical · material-deposition</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64592" cy="164592"/>
          </a:xfrm>
          <a:prstGeom prst="rect">
            <a:avLst/>
          </a:prstGeom>
          <a:solidFill>
            <a:srgbClr val="1C7293"/>
          </a:solidFill>
          <a:ln/>
        </p:spPr>
      </p:sp>
      <p:sp>
        <p:nvSpPr>
          <p:cNvPr id="3" name="Text 1"/>
          <p:cNvSpPr/>
          <p:nvPr/>
        </p:nvSpPr>
        <p:spPr>
          <a:xfrm>
            <a:off x="777240" y="365760"/>
            <a:ext cx="10881360" cy="640080"/>
          </a:xfrm>
          <a:prstGeom prst="rect">
            <a:avLst/>
          </a:prstGeom>
          <a:noFill/>
          <a:ln/>
        </p:spPr>
        <p:txBody>
          <a:bodyPr wrap="square" lIns="0" tIns="0" rIns="0" bIns="0" rtlCol="0" anchor="ctr"/>
          <a:lstStyle/>
          <a:p>
            <a:pPr indent="0" marL="0">
              <a:buNone/>
            </a:pPr>
            <a:r>
              <a:rPr lang="en-US" sz="3000" b="1" dirty="0">
                <a:solidFill>
                  <a:srgbClr val="14243D"/>
                </a:solidFill>
                <a:latin typeface="Cambria" pitchFamily="34" charset="0"/>
                <a:ea typeface="Cambria" pitchFamily="34" charset="-122"/>
                <a:cs typeface="Cambria" pitchFamily="34" charset="-120"/>
              </a:rPr>
              <a:t>Electrochemical vs deposition</a:t>
            </a:r>
            <a:endParaRPr lang="en-US" sz="3000" dirty="0"/>
          </a:p>
        </p:txBody>
      </p:sp>
      <p:sp>
        <p:nvSpPr>
          <p:cNvPr id="4" name="Text 2"/>
          <p:cNvSpPr/>
          <p:nvPr/>
        </p:nvSpPr>
        <p:spPr>
          <a:xfrm>
            <a:off x="777240" y="1024128"/>
            <a:ext cx="10698480" cy="45720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18.8× higher deletion and a 5′-ward gradient — a clean class-level signature.</a:t>
            </a:r>
            <a:endParaRPr lang="en-US" sz="1500" dirty="0"/>
          </a:p>
        </p:txBody>
      </p:sp>
      <p:sp>
        <p:nvSpPr>
          <p:cNvPr id="5" name="Text 3"/>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DNA synthesis screening under device proliferation</a:t>
            </a:r>
            <a:endParaRPr lang="en-US" sz="900" dirty="0"/>
          </a:p>
        </p:txBody>
      </p:sp>
      <p:sp>
        <p:nvSpPr>
          <p:cNvPr id="6" name="Text 4"/>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pic>
        <p:nvPicPr>
          <p:cNvPr id="7" name="Image 0" descr="figs4/fig4_7_gimpel.png">    </p:cNvPr>
          <p:cNvPicPr>
            <a:picLocks noChangeAspect="1"/>
          </p:cNvPicPr>
          <p:nvPr/>
        </p:nvPicPr>
        <p:blipFill>
          <a:blip r:embed="rId1"/>
          <a:srcRect l="0" r="0" t="0" b="0"/>
          <a:stretch/>
        </p:blipFill>
        <p:spPr>
          <a:xfrm>
            <a:off x="822960" y="1600200"/>
            <a:ext cx="10543032" cy="4526280"/>
          </a:xfrm>
          <a:prstGeom prst="rect">
            <a:avLst/>
          </a:prstGeom>
        </p:spPr>
      </p:pic>
      <p:sp>
        <p:nvSpPr>
          <p:cNvPr id="8" name="Text 5"/>
          <p:cNvSpPr/>
          <p:nvPr/>
        </p:nvSpPr>
        <p:spPr>
          <a:xfrm>
            <a:off x="822960" y="6144768"/>
            <a:ext cx="10515600" cy="274320"/>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Reproduced from ENA PRJEB65931 (Gimpel et al. 2023)</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64592" cy="164592"/>
          </a:xfrm>
          <a:prstGeom prst="rect">
            <a:avLst/>
          </a:prstGeom>
          <a:solidFill>
            <a:srgbClr val="1C7293"/>
          </a:solidFill>
          <a:ln/>
        </p:spPr>
      </p:sp>
      <p:sp>
        <p:nvSpPr>
          <p:cNvPr id="3" name="Text 1"/>
          <p:cNvSpPr/>
          <p:nvPr/>
        </p:nvSpPr>
        <p:spPr>
          <a:xfrm>
            <a:off x="777240" y="365760"/>
            <a:ext cx="10881360" cy="640080"/>
          </a:xfrm>
          <a:prstGeom prst="rect">
            <a:avLst/>
          </a:prstGeom>
          <a:noFill/>
          <a:ln/>
        </p:spPr>
        <p:txBody>
          <a:bodyPr wrap="square" lIns="0" tIns="0" rIns="0" bIns="0" rtlCol="0" anchor="ctr"/>
          <a:lstStyle/>
          <a:p>
            <a:pPr indent="0" marL="0">
              <a:buNone/>
            </a:pPr>
            <a:r>
              <a:rPr lang="en-US" sz="3000" b="1" dirty="0">
                <a:solidFill>
                  <a:srgbClr val="14243D"/>
                </a:solidFill>
                <a:latin typeface="Cambria" pitchFamily="34" charset="0"/>
                <a:ea typeface="Cambria" pitchFamily="34" charset="-122"/>
                <a:cs typeface="Cambria" pitchFamily="34" charset="-120"/>
              </a:rPr>
              <a:t>From proof-of-concept to proof</a:t>
            </a:r>
            <a:endParaRPr lang="en-US" sz="3000" dirty="0"/>
          </a:p>
        </p:txBody>
      </p:sp>
      <p:sp>
        <p:nvSpPr>
          <p:cNvPr id="4" name="Text 2"/>
          <p:cNvSpPr/>
          <p:nvPr/>
        </p:nvSpPr>
        <p:spPr>
          <a:xfrm>
            <a:off x="777240" y="1024128"/>
            <a:ext cx="10698480" cy="45720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Cross-chemistry attribution: 100%. Within-vendor: hard. Built on a co-processed atlas of 65 runs.</a:t>
            </a:r>
            <a:endParaRPr lang="en-US" sz="1500" dirty="0"/>
          </a:p>
        </p:txBody>
      </p:sp>
      <p:sp>
        <p:nvSpPr>
          <p:cNvPr id="5" name="Text 3"/>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DNA synthesis screening under device proliferation</a:t>
            </a:r>
            <a:endParaRPr lang="en-US" sz="900" dirty="0"/>
          </a:p>
        </p:txBody>
      </p:sp>
      <p:sp>
        <p:nvSpPr>
          <p:cNvPr id="6" name="Text 4"/>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pic>
        <p:nvPicPr>
          <p:cNvPr id="7" name="Image 0" descr="figs4/fig4_6_measured.png">    </p:cNvPr>
          <p:cNvPicPr>
            <a:picLocks noChangeAspect="1"/>
          </p:cNvPicPr>
          <p:nvPr/>
        </p:nvPicPr>
        <p:blipFill>
          <a:blip r:embed="rId1"/>
          <a:srcRect l="0" r="0" t="0" b="0"/>
          <a:stretch/>
        </p:blipFill>
        <p:spPr>
          <a:xfrm>
            <a:off x="822960" y="1600200"/>
            <a:ext cx="10543032" cy="4526280"/>
          </a:xfrm>
          <a:prstGeom prst="rect">
            <a:avLst/>
          </a:prstGeom>
        </p:spPr>
      </p:pic>
      <p:sp>
        <p:nvSpPr>
          <p:cNvPr id="8" name="Text 5"/>
          <p:cNvSpPr/>
          <p:nvPr/>
        </p:nvSpPr>
        <p:spPr>
          <a:xfrm>
            <a:off x="822960" y="6144768"/>
            <a:ext cx="10515600" cy="274320"/>
          </a:xfrm>
          <a:prstGeom prst="rect">
            <a:avLst/>
          </a:prstGeom>
          <a:noFill/>
          <a:ln/>
        </p:spPr>
        <p:txBody>
          <a:bodyPr wrap="square" lIns="0" tIns="0" rIns="0" bIns="0"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Leave-one-run-out (chemistry) and leave-one-lot-out (vendor), label-shuffle controlled</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64592" cy="164592"/>
          </a:xfrm>
          <a:prstGeom prst="rect">
            <a:avLst/>
          </a:prstGeom>
          <a:solidFill>
            <a:srgbClr val="1C7293"/>
          </a:solidFill>
          <a:ln/>
        </p:spPr>
      </p:sp>
      <p:sp>
        <p:nvSpPr>
          <p:cNvPr id="3" name="Text 1"/>
          <p:cNvSpPr/>
          <p:nvPr/>
        </p:nvSpPr>
        <p:spPr>
          <a:xfrm>
            <a:off x="777240" y="365760"/>
            <a:ext cx="10881360" cy="640080"/>
          </a:xfrm>
          <a:prstGeom prst="rect">
            <a:avLst/>
          </a:prstGeom>
          <a:noFill/>
          <a:ln/>
        </p:spPr>
        <p:txBody>
          <a:bodyPr wrap="square" lIns="0" tIns="0" rIns="0" bIns="0" rtlCol="0" anchor="ctr"/>
          <a:lstStyle/>
          <a:p>
            <a:pPr indent="0" marL="0">
              <a:buNone/>
            </a:pPr>
            <a:r>
              <a:rPr lang="en-US" sz="3000" b="1" dirty="0">
                <a:solidFill>
                  <a:srgbClr val="14243D"/>
                </a:solidFill>
                <a:latin typeface="Cambria" pitchFamily="34" charset="0"/>
                <a:ea typeface="Cambria" pitchFamily="34" charset="-122"/>
                <a:cs typeface="Cambria" pitchFamily="34" charset="-120"/>
              </a:rPr>
              <a:t>A testable DIY-vs-commercial tell</a:t>
            </a:r>
            <a:endParaRPr lang="en-US" sz="3000" dirty="0"/>
          </a:p>
        </p:txBody>
      </p:sp>
      <p:sp>
        <p:nvSpPr>
          <p:cNvPr id="4" name="Text 2"/>
          <p:cNvSpPr/>
          <p:nvPr/>
        </p:nvSpPr>
        <p:spPr>
          <a:xfrm>
            <a:off x="777240" y="1024128"/>
            <a:ext cx="10698480" cy="45720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OpenIDS omits the capping step — so its product should carry a distinguishable phenotype.</a:t>
            </a:r>
            <a:endParaRPr lang="en-US" sz="1500" dirty="0"/>
          </a:p>
        </p:txBody>
      </p:sp>
      <p:sp>
        <p:nvSpPr>
          <p:cNvPr id="5" name="Text 3"/>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DNA synthesis screening under device proliferation</a:t>
            </a:r>
            <a:endParaRPr lang="en-US" sz="900" dirty="0"/>
          </a:p>
        </p:txBody>
      </p:sp>
      <p:sp>
        <p:nvSpPr>
          <p:cNvPr id="6" name="Text 4"/>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19</a:t>
            </a:r>
            <a:endParaRPr lang="en-US" sz="900" dirty="0"/>
          </a:p>
        </p:txBody>
      </p:sp>
      <p:sp>
        <p:nvSpPr>
          <p:cNvPr id="7" name="Text 5"/>
          <p:cNvSpPr/>
          <p:nvPr/>
        </p:nvSpPr>
        <p:spPr>
          <a:xfrm>
            <a:off x="777240" y="1828800"/>
            <a:ext cx="3977640" cy="4023360"/>
          </a:xfrm>
          <a:prstGeom prst="rect">
            <a:avLst/>
          </a:prstGeom>
          <a:noFill/>
          <a:ln/>
        </p:spPr>
        <p:txBody>
          <a:bodyPr wrap="square" rtlCol="0" anchor="t"/>
          <a:lstStyle/>
          <a:p>
            <a:pPr marL="342900" indent="-342900">
              <a:spcAft>
                <a:spcPts val="1000"/>
              </a:spcAft>
              <a:buSzPct val="100000"/>
              <a:buChar char="•"/>
            </a:pPr>
            <a:r>
              <a:rPr lang="en-US" sz="1500" dirty="0">
                <a:solidFill>
                  <a:srgbClr val="21303F"/>
                </a:solidFill>
                <a:latin typeface="Calibri" pitchFamily="34" charset="0"/>
                <a:ea typeface="Calibri" pitchFamily="34" charset="-122"/>
                <a:cs typeface="Calibri" pitchFamily="34" charset="-120"/>
              </a:rPr>
              <a:t>Capping drives the G→A signature (reproduced 12.2×)</a:t>
            </a:r>
            <a:endParaRPr lang="en-US" sz="1500" dirty="0"/>
          </a:p>
          <a:p>
            <a:pPr marL="342900" indent="-342900">
              <a:spcAft>
                <a:spcPts val="1000"/>
              </a:spcAft>
              <a:buSzPct val="100000"/>
              <a:buChar char="•"/>
            </a:pPr>
            <a:r>
              <a:rPr lang="en-US" sz="1500" dirty="0">
                <a:solidFill>
                  <a:srgbClr val="21303F"/>
                </a:solidFill>
                <a:latin typeface="Calibri" pitchFamily="34" charset="0"/>
                <a:ea typeface="Calibri" pitchFamily="34" charset="-122"/>
                <a:cs typeface="Calibri" pitchFamily="34" charset="-120"/>
              </a:rPr>
              <a:t>No capping → suppressed G→A</a:t>
            </a:r>
            <a:endParaRPr lang="en-US" sz="1500" dirty="0"/>
          </a:p>
          <a:p>
            <a:pPr marL="342900" indent="-342900">
              <a:spcAft>
                <a:spcPts val="1000"/>
              </a:spcAft>
              <a:buSzPct val="100000"/>
              <a:buChar char="•"/>
            </a:pPr>
            <a:r>
              <a:rPr lang="en-US" sz="1500" dirty="0">
                <a:solidFill>
                  <a:srgbClr val="21303F"/>
                </a:solidFill>
                <a:latin typeface="Calibri" pitchFamily="34" charset="0"/>
                <a:ea typeface="Calibri" pitchFamily="34" charset="-122"/>
                <a:cs typeface="Calibri" pitchFamily="34" charset="-120"/>
              </a:rPr>
              <a:t>No capping → elevated n−1 deletions</a:t>
            </a:r>
            <a:endParaRPr lang="en-US" sz="1500" dirty="0"/>
          </a:p>
          <a:p>
            <a:pPr marL="342900" indent="-342900">
              <a:spcAft>
                <a:spcPts val="1000"/>
              </a:spcAft>
              <a:buSzPct val="100000"/>
              <a:buChar char="•"/>
            </a:pPr>
            <a:r>
              <a:rPr lang="en-US" sz="1500" dirty="0">
                <a:solidFill>
                  <a:srgbClr val="21303F"/>
                </a:solidFill>
                <a:latin typeface="Calibri" pitchFamily="34" charset="0"/>
                <a:ea typeface="Calibri" pitchFamily="34" charset="-122"/>
                <a:cs typeface="Calibri" pitchFamily="34" charset="-120"/>
              </a:rPr>
              <a:t>Awaits collaborator OpenIDS reads (IBBIS-reviewed)</a:t>
            </a:r>
            <a:endParaRPr lang="en-US" sz="1500" dirty="0"/>
          </a:p>
        </p:txBody>
      </p:sp>
      <p:pic>
        <p:nvPicPr>
          <p:cNvPr id="8" name="Image 0" descr="figs4/fig4_4_masaki_reproduction.png">    </p:cNvPr>
          <p:cNvPicPr>
            <a:picLocks noChangeAspect="1"/>
          </p:cNvPicPr>
          <p:nvPr/>
        </p:nvPicPr>
        <p:blipFill>
          <a:blip r:embed="rId1"/>
          <a:srcRect l="0" r="0" t="0" b="0"/>
          <a:stretch/>
        </p:blipFill>
        <p:spPr>
          <a:xfrm>
            <a:off x="5029200" y="1737360"/>
            <a:ext cx="6400800" cy="429768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64592" cy="164592"/>
          </a:xfrm>
          <a:prstGeom prst="rect">
            <a:avLst/>
          </a:prstGeom>
          <a:solidFill>
            <a:srgbClr val="1C7293"/>
          </a:solidFill>
          <a:ln/>
        </p:spPr>
      </p:sp>
      <p:sp>
        <p:nvSpPr>
          <p:cNvPr id="3" name="Text 1"/>
          <p:cNvSpPr/>
          <p:nvPr/>
        </p:nvSpPr>
        <p:spPr>
          <a:xfrm>
            <a:off x="777240" y="365760"/>
            <a:ext cx="10881360" cy="640080"/>
          </a:xfrm>
          <a:prstGeom prst="rect">
            <a:avLst/>
          </a:prstGeom>
          <a:noFill/>
          <a:ln/>
        </p:spPr>
        <p:txBody>
          <a:bodyPr wrap="square" lIns="0" tIns="0" rIns="0" bIns="0" rtlCol="0" anchor="ctr"/>
          <a:lstStyle/>
          <a:p>
            <a:pPr indent="0" marL="0">
              <a:buNone/>
            </a:pPr>
            <a:r>
              <a:rPr lang="en-US" sz="3000" b="1" dirty="0">
                <a:solidFill>
                  <a:srgbClr val="14243D"/>
                </a:solidFill>
                <a:latin typeface="Cambria" pitchFamily="34" charset="0"/>
                <a:ea typeface="Cambria" pitchFamily="34" charset="-122"/>
                <a:cs typeface="Cambria" pitchFamily="34" charset="-120"/>
              </a:rPr>
              <a:t>Durable vs illusory control</a:t>
            </a:r>
            <a:endParaRPr lang="en-US" sz="3000" dirty="0"/>
          </a:p>
        </p:txBody>
      </p:sp>
      <p:sp>
        <p:nvSpPr>
          <p:cNvPr id="4" name="Text 2"/>
          <p:cNvSpPr/>
          <p:nvPr/>
        </p:nvSpPr>
        <p:spPr>
          <a:xfrm>
            <a:off x="777240" y="1024128"/>
            <a:ext cx="10698480" cy="45720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The frontier problem is function-based screening, not sequence similarity alone.</a:t>
            </a:r>
            <a:endParaRPr lang="en-US" sz="1500" dirty="0"/>
          </a:p>
        </p:txBody>
      </p:sp>
      <p:sp>
        <p:nvSpPr>
          <p:cNvPr id="5" name="Text 3"/>
          <p:cNvSpPr/>
          <p:nvPr/>
        </p:nvSpPr>
        <p:spPr>
          <a:xfrm>
            <a:off x="548640" y="6455664"/>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DNA synthesis screening under device proliferation</a:t>
            </a:r>
            <a:endParaRPr lang="en-US" sz="900" dirty="0"/>
          </a:p>
        </p:txBody>
      </p:sp>
      <p:sp>
        <p:nvSpPr>
          <p:cNvPr id="6" name="Text 4"/>
          <p:cNvSpPr/>
          <p:nvPr/>
        </p:nvSpPr>
        <p:spPr>
          <a:xfrm>
            <a:off x="11338560" y="6455664"/>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20</a:t>
            </a:r>
            <a:endParaRPr lang="en-US" sz="900" dirty="0"/>
          </a:p>
        </p:txBody>
      </p:sp>
      <p:sp>
        <p:nvSpPr>
          <p:cNvPr id="7" name="Shape 5"/>
          <p:cNvSpPr/>
          <p:nvPr/>
        </p:nvSpPr>
        <p:spPr>
          <a:xfrm>
            <a:off x="548640" y="1828800"/>
            <a:ext cx="5394960" cy="4114800"/>
          </a:xfrm>
          <a:prstGeom prst="roundRect">
            <a:avLst>
              <a:gd name="adj" fmla="val 2222"/>
            </a:avLst>
          </a:prstGeom>
          <a:solidFill>
            <a:srgbClr val="F2F5F7"/>
          </a:solidFill>
          <a:ln w="12700">
            <a:solidFill>
              <a:srgbClr val="D7DEE5"/>
            </a:solidFill>
            <a:prstDash val="solid"/>
          </a:ln>
        </p:spPr>
      </p:sp>
      <p:sp>
        <p:nvSpPr>
          <p:cNvPr id="8" name="Text 6"/>
          <p:cNvSpPr/>
          <p:nvPr/>
        </p:nvSpPr>
        <p:spPr>
          <a:xfrm>
            <a:off x="868680" y="2057400"/>
            <a:ext cx="4754880" cy="457200"/>
          </a:xfrm>
          <a:prstGeom prst="rect">
            <a:avLst/>
          </a:prstGeom>
          <a:noFill/>
          <a:ln/>
        </p:spPr>
        <p:txBody>
          <a:bodyPr wrap="square" lIns="0" tIns="0" rIns="0" bIns="0" rtlCol="0" anchor="ctr"/>
          <a:lstStyle/>
          <a:p>
            <a:pPr indent="0" marL="0">
              <a:buNone/>
            </a:pPr>
            <a:r>
              <a:rPr lang="en-US" sz="1900" b="1" dirty="0">
                <a:solidFill>
                  <a:srgbClr val="2E7D52"/>
                </a:solidFill>
                <a:latin typeface="Cambria" pitchFamily="34" charset="0"/>
                <a:ea typeface="Cambria" pitchFamily="34" charset="-122"/>
                <a:cs typeface="Cambria" pitchFamily="34" charset="-120"/>
              </a:rPr>
              <a:t>Durable (conditional on R1)</a:t>
            </a:r>
            <a:endParaRPr lang="en-US" sz="1900" dirty="0"/>
          </a:p>
        </p:txBody>
      </p:sp>
      <p:sp>
        <p:nvSpPr>
          <p:cNvPr id="9" name="Text 7"/>
          <p:cNvSpPr/>
          <p:nvPr/>
        </p:nvSpPr>
        <p:spPr>
          <a:xfrm>
            <a:off x="868680" y="2697480"/>
            <a:ext cx="4800600" cy="3017520"/>
          </a:xfrm>
          <a:prstGeom prst="rect">
            <a:avLst/>
          </a:prstGeom>
          <a:noFill/>
          <a:ln/>
        </p:spPr>
        <p:txBody>
          <a:bodyPr wrap="square" rtlCol="0" anchor="t"/>
          <a:lstStyle/>
          <a:p>
            <a:pPr marL="342900" indent="-342900">
              <a:spcAft>
                <a:spcPts val="900"/>
              </a:spcAft>
              <a:buSzPct val="100000"/>
              <a:buChar char="•"/>
            </a:pPr>
            <a:r>
              <a:rPr lang="en-US" sz="1400" dirty="0">
                <a:solidFill>
                  <a:srgbClr val="21303F"/>
                </a:solidFill>
                <a:latin typeface="Calibri" pitchFamily="34" charset="0"/>
                <a:ea typeface="Calibri" pitchFamily="34" charset="-122"/>
                <a:cs typeface="Calibri" pitchFamily="34" charset="-120"/>
              </a:rPr>
              <a:t>On-device screening</a:t>
            </a:r>
            <a:endParaRPr lang="en-US" sz="1400" dirty="0"/>
          </a:p>
          <a:p>
            <a:pPr marL="342900" indent="-342900">
              <a:spcAft>
                <a:spcPts val="900"/>
              </a:spcAft>
              <a:buSzPct val="100000"/>
              <a:buChar char="•"/>
            </a:pPr>
            <a:r>
              <a:rPr lang="en-US" sz="1400" dirty="0">
                <a:solidFill>
                  <a:srgbClr val="21303F"/>
                </a:solidFill>
                <a:latin typeface="Calibri" pitchFamily="34" charset="0"/>
                <a:ea typeface="Calibri" pitchFamily="34" charset="-122"/>
                <a:cs typeface="Calibri" pitchFamily="34" charset="-120"/>
              </a:rPr>
              <a:t>Mandatory provider compliance</a:t>
            </a:r>
            <a:endParaRPr lang="en-US" sz="1400" dirty="0"/>
          </a:p>
          <a:p>
            <a:pPr marL="342900" indent="-342900">
              <a:spcAft>
                <a:spcPts val="900"/>
              </a:spcAft>
              <a:buSzPct val="100000"/>
              <a:buChar char="•"/>
            </a:pPr>
            <a:r>
              <a:rPr lang="en-US" sz="1400" dirty="0">
                <a:solidFill>
                  <a:srgbClr val="21303F"/>
                </a:solidFill>
                <a:latin typeface="Calibri" pitchFamily="34" charset="0"/>
                <a:ea typeface="Calibri" pitchFamily="34" charset="-122"/>
                <a:cs typeface="Calibri" pitchFamily="34" charset="-120"/>
              </a:rPr>
              <a:t>Functional-SOC detection</a:t>
            </a:r>
            <a:endParaRPr lang="en-US" sz="1400" dirty="0"/>
          </a:p>
          <a:p>
            <a:pPr marL="342900" indent="-342900">
              <a:spcAft>
                <a:spcPts val="900"/>
              </a:spcAft>
              <a:buSzPct val="100000"/>
              <a:buChar char="•"/>
            </a:pPr>
            <a:r>
              <a:rPr lang="en-US" sz="1400" dirty="0">
                <a:solidFill>
                  <a:srgbClr val="21303F"/>
                </a:solidFill>
                <a:latin typeface="Calibri" pitchFamily="34" charset="0"/>
                <a:ea typeface="Calibri" pitchFamily="34" charset="-122"/>
                <a:cs typeface="Calibri" pitchFamily="34" charset="-120"/>
              </a:rPr>
              <a:t>International coordination</a:t>
            </a:r>
            <a:endParaRPr lang="en-US" sz="1400" dirty="0"/>
          </a:p>
          <a:p>
            <a:pPr marL="342900" indent="-342900">
              <a:spcAft>
                <a:spcPts val="900"/>
              </a:spcAft>
              <a:buSzPct val="100000"/>
              <a:buChar char="•"/>
            </a:pPr>
            <a:r>
              <a:rPr lang="en-US" sz="1400" dirty="0">
                <a:solidFill>
                  <a:srgbClr val="21303F"/>
                </a:solidFill>
                <a:latin typeface="Calibri" pitchFamily="34" charset="0"/>
                <a:ea typeface="Calibri" pitchFamily="34" charset="-122"/>
                <a:cs typeface="Calibri" pitchFamily="34" charset="-120"/>
              </a:rPr>
              <a:t>Forensic attribution (the backstop)</a:t>
            </a:r>
            <a:endParaRPr lang="en-US" sz="1400" dirty="0"/>
          </a:p>
        </p:txBody>
      </p:sp>
      <p:sp>
        <p:nvSpPr>
          <p:cNvPr id="10" name="Shape 8"/>
          <p:cNvSpPr/>
          <p:nvPr/>
        </p:nvSpPr>
        <p:spPr>
          <a:xfrm>
            <a:off x="6245352" y="1828800"/>
            <a:ext cx="5394960" cy="4114800"/>
          </a:xfrm>
          <a:prstGeom prst="roundRect">
            <a:avLst>
              <a:gd name="adj" fmla="val 2222"/>
            </a:avLst>
          </a:prstGeom>
          <a:solidFill>
            <a:srgbClr val="F2F5F7"/>
          </a:solidFill>
          <a:ln w="12700">
            <a:solidFill>
              <a:srgbClr val="D7DEE5"/>
            </a:solidFill>
            <a:prstDash val="solid"/>
          </a:ln>
        </p:spPr>
      </p:sp>
      <p:sp>
        <p:nvSpPr>
          <p:cNvPr id="11" name="Text 9"/>
          <p:cNvSpPr/>
          <p:nvPr/>
        </p:nvSpPr>
        <p:spPr>
          <a:xfrm>
            <a:off x="6565392" y="2057400"/>
            <a:ext cx="4754880" cy="457200"/>
          </a:xfrm>
          <a:prstGeom prst="rect">
            <a:avLst/>
          </a:prstGeom>
          <a:noFill/>
          <a:ln/>
        </p:spPr>
        <p:txBody>
          <a:bodyPr wrap="square" lIns="0" tIns="0" rIns="0" bIns="0" rtlCol="0" anchor="ctr"/>
          <a:lstStyle/>
          <a:p>
            <a:pPr indent="0" marL="0">
              <a:buNone/>
            </a:pPr>
            <a:r>
              <a:rPr lang="en-US" sz="1900" b="1" dirty="0">
                <a:solidFill>
                  <a:srgbClr val="B4712A"/>
                </a:solidFill>
                <a:latin typeface="Cambria" pitchFamily="34" charset="0"/>
                <a:ea typeface="Cambria" pitchFamily="34" charset="-122"/>
                <a:cs typeface="Cambria" pitchFamily="34" charset="-120"/>
              </a:rPr>
              <a:t>Illusory</a:t>
            </a:r>
            <a:endParaRPr lang="en-US" sz="1900" dirty="0"/>
          </a:p>
        </p:txBody>
      </p:sp>
      <p:sp>
        <p:nvSpPr>
          <p:cNvPr id="12" name="Text 10"/>
          <p:cNvSpPr/>
          <p:nvPr/>
        </p:nvSpPr>
        <p:spPr>
          <a:xfrm>
            <a:off x="6565392" y="2697480"/>
            <a:ext cx="4800600" cy="3017520"/>
          </a:xfrm>
          <a:prstGeom prst="rect">
            <a:avLst/>
          </a:prstGeom>
          <a:noFill/>
          <a:ln/>
        </p:spPr>
        <p:txBody>
          <a:bodyPr wrap="square" rtlCol="0" anchor="t"/>
          <a:lstStyle/>
          <a:p>
            <a:pPr marL="342900" indent="-342900">
              <a:spcAft>
                <a:spcPts val="900"/>
              </a:spcAft>
              <a:buSzPct val="100000"/>
              <a:buChar char="•"/>
            </a:pPr>
            <a:r>
              <a:rPr lang="en-US" sz="1400" dirty="0">
                <a:solidFill>
                  <a:srgbClr val="21303F"/>
                </a:solidFill>
                <a:latin typeface="Calibri" pitchFamily="34" charset="0"/>
                <a:ea typeface="Calibri" pitchFamily="34" charset="-122"/>
                <a:cs typeface="Calibri" pitchFamily="34" charset="-120"/>
              </a:rPr>
              <a:t>Reagent restriction</a:t>
            </a:r>
            <a:endParaRPr lang="en-US" sz="1400" dirty="0"/>
          </a:p>
          <a:p>
            <a:pPr marL="342900" indent="-342900">
              <a:spcAft>
                <a:spcPts val="900"/>
              </a:spcAft>
              <a:buSzPct val="100000"/>
              <a:buChar char="•"/>
            </a:pPr>
            <a:r>
              <a:rPr lang="en-US" sz="1400" dirty="0">
                <a:solidFill>
                  <a:srgbClr val="21303F"/>
                </a:solidFill>
                <a:latin typeface="Calibri" pitchFamily="34" charset="0"/>
                <a:ea typeface="Calibri" pitchFamily="34" charset="-122"/>
                <a:cs typeface="Calibri" pitchFamily="34" charset="-120"/>
              </a:rPr>
              <a:t>Solvent restriction</a:t>
            </a:r>
            <a:endParaRPr lang="en-US" sz="1400" dirty="0"/>
          </a:p>
          <a:p>
            <a:pPr marL="342900" indent="-342900">
              <a:spcAft>
                <a:spcPts val="900"/>
              </a:spcAft>
              <a:buSzPct val="100000"/>
              <a:buChar char="•"/>
            </a:pPr>
            <a:r>
              <a:rPr lang="en-US" sz="1400" dirty="0">
                <a:solidFill>
                  <a:srgbClr val="21303F"/>
                </a:solidFill>
                <a:latin typeface="Calibri" pitchFamily="34" charset="0"/>
                <a:ea typeface="Calibri" pitchFamily="34" charset="-122"/>
                <a:cs typeface="Calibri" pitchFamily="34" charset="-120"/>
              </a:rPr>
              <a:t>Printhead / component controls</a:t>
            </a:r>
            <a:endParaRPr lang="en-US" sz="1400" dirty="0"/>
          </a:p>
          <a:p>
            <a:pPr marL="342900" indent="-342900">
              <a:spcAft>
                <a:spcPts val="900"/>
              </a:spcAft>
              <a:buSzPct val="100000"/>
              <a:buChar char="•"/>
            </a:pPr>
            <a:r>
              <a:rPr lang="en-US" sz="1400" dirty="0">
                <a:solidFill>
                  <a:srgbClr val="21303F"/>
                </a:solidFill>
                <a:latin typeface="Calibri" pitchFamily="34" charset="0"/>
                <a:ea typeface="Calibri" pitchFamily="34" charset="-122"/>
                <a:cs typeface="Calibri" pitchFamily="34" charset="-120"/>
              </a:rPr>
              <a:t>Single point-of-sale screening</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243D"/>
        </a:solidFill>
      </p:bgPr>
    </p:bg>
    <p:spTree>
      <p:nvGrpSpPr>
        <p:cNvPr id="1" name=""/>
        <p:cNvGrpSpPr/>
        <p:nvPr/>
      </p:nvGrpSpPr>
      <p:grpSpPr>
        <a:xfrm>
          <a:off x="0" y="0"/>
          <a:ext cx="0" cy="0"/>
          <a:chOff x="0" y="0"/>
          <a:chExt cx="0" cy="0"/>
        </a:xfrm>
      </p:grpSpPr>
      <p:sp>
        <p:nvSpPr>
          <p:cNvPr id="2" name="Shape 0"/>
          <p:cNvSpPr/>
          <p:nvPr/>
        </p:nvSpPr>
        <p:spPr>
          <a:xfrm>
            <a:off x="822960" y="2468880"/>
            <a:ext cx="548640" cy="82296"/>
          </a:xfrm>
          <a:prstGeom prst="rect">
            <a:avLst/>
          </a:prstGeom>
          <a:solidFill>
            <a:srgbClr val="2A9D8F"/>
          </a:solidFill>
          <a:ln/>
        </p:spPr>
      </p:sp>
      <p:sp>
        <p:nvSpPr>
          <p:cNvPr id="3" name="Text 1"/>
          <p:cNvSpPr/>
          <p:nvPr/>
        </p:nvSpPr>
        <p:spPr>
          <a:xfrm>
            <a:off x="822960" y="2651760"/>
            <a:ext cx="10515600" cy="18288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The contribution</a:t>
            </a:r>
            <a:endParaRPr lang="en-US" sz="4000" dirty="0"/>
          </a:p>
        </p:txBody>
      </p:sp>
      <p:sp>
        <p:nvSpPr>
          <p:cNvPr id="4" name="Text 2"/>
          <p:cNvSpPr/>
          <p:nvPr/>
        </p:nvSpPr>
        <p:spPr>
          <a:xfrm>
            <a:off x="822960" y="4480560"/>
            <a:ext cx="10241280" cy="914400"/>
          </a:xfrm>
          <a:prstGeom prst="rect">
            <a:avLst/>
          </a:prstGeom>
          <a:noFill/>
          <a:ln/>
        </p:spPr>
        <p:txBody>
          <a:bodyPr wrap="square" lIns="0" tIns="0" rIns="0" bIns="0" rtlCol="0" anchor="ctr"/>
          <a:lstStyle/>
          <a:p>
            <a:pPr indent="0" marL="0">
              <a:buNone/>
            </a:pPr>
            <a:r>
              <a:rPr lang="en-US" sz="1900" dirty="0">
                <a:solidFill>
                  <a:srgbClr val="BFD3D6"/>
                </a:solidFill>
                <a:latin typeface="Calibri" pitchFamily="34" charset="0"/>
                <a:ea typeface="Calibri" pitchFamily="34" charset="-122"/>
                <a:cs typeface="Calibri" pitchFamily="34" charset="-120"/>
              </a:rPr>
              <a:t>From threat-ranking to governance-architecture design — with a working forensic backstop.</a:t>
            </a:r>
            <a:endParaRPr lang="en-US" sz="1900" dirty="0"/>
          </a:p>
        </p:txBody>
      </p:sp>
      <p:sp>
        <p:nvSpPr>
          <p:cNvPr id="5" name="Text 3"/>
          <p:cNvSpPr/>
          <p:nvPr/>
        </p:nvSpPr>
        <p:spPr>
          <a:xfrm>
            <a:off x="822960" y="5852160"/>
            <a:ext cx="10058400" cy="365760"/>
          </a:xfrm>
          <a:prstGeom prst="rect">
            <a:avLst/>
          </a:prstGeom>
          <a:noFill/>
          <a:ln/>
        </p:spPr>
        <p:txBody>
          <a:bodyPr wrap="square" lIns="0" tIns="0" rIns="0" bIns="0" rtlCol="0" anchor="ctr"/>
          <a:lstStyle/>
          <a:p>
            <a:pPr indent="0" marL="0">
              <a:buNone/>
            </a:pPr>
            <a:r>
              <a:rPr lang="en-US" sz="1300" dirty="0">
                <a:solidFill>
                  <a:srgbClr val="7FA0A6"/>
                </a:solidFill>
                <a:latin typeface="Calibri" pitchFamily="34" charset="0"/>
                <a:ea typeface="Calibri" pitchFamily="34" charset="-122"/>
                <a:cs typeface="Calibri" pitchFamily="34" charset="-120"/>
              </a:rPr>
              <a:t>Screening must be mandatory, on-device, international, and backstopped by attribution.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2026-07-27T14:47:01Z</dcterms:created>
  <dcterms:modified xsi:type="dcterms:W3CDTF">2026-07-27T14:47:01Z</dcterms:modified>
</cp:coreProperties>
</file>